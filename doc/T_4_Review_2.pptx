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7" r:id="rId7"/>
    <p:sldId id="268" r:id="rId8"/>
    <p:sldId id="269" r:id="rId9"/>
    <p:sldId id="273" r:id="rId10"/>
    <p:sldId id="275" r:id="rId11"/>
    <p:sldId id="276" r:id="rId12"/>
    <p:sldId id="274" r:id="rId13"/>
  </p:sldIdLst>
  <p:sldSz cx="12192000" cy="6858000"/>
  <p:notesSz cx="6858000" cy="12192000"/>
  <p:embeddedFontLst>
    <p:embeddedFont>
      <p:font typeface="Roboto" panose="02000000000000000000" pitchFamily="2" charset="0"/>
      <p:regular r:id="rId15"/>
      <p:bold r:id="rId16"/>
      <p:italic r:id="rId17"/>
      <p:boldItalic r:id="rId18"/>
    </p:embeddedFont>
    <p:embeddedFont>
      <p:font typeface="Roboto Bold" panose="02000000000000000000" charset="0"/>
      <p:regular r:id="rId19"/>
    </p:embeddedFont>
    <p:embeddedFont>
      <p:font typeface="Roboto Slab" pitchFamily="2" charset="0"/>
      <p:regular r:id="rId20"/>
      <p:bold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1906" y="7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8678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F1F8"/>
          </a:solidFill>
          <a:ln/>
        </p:spPr>
      </p:sp>
      <p:sp>
        <p:nvSpPr>
          <p:cNvPr id="3" name="Shape 1"/>
          <p:cNvSpPr/>
          <p:nvPr/>
        </p:nvSpPr>
        <p:spPr>
          <a:xfrm>
            <a:off x="0" y="0"/>
            <a:ext cx="12191695" cy="68580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138989"/>
            <a:ext cx="10868745" cy="1812769"/>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3257B8"/>
                </a:solidFill>
                <a:latin typeface="Roboto Slab" pitchFamily="34" charset="0"/>
                <a:ea typeface="Roboto Slab" pitchFamily="34" charset="-122"/>
                <a:cs typeface="Roboto Slab" pitchFamily="34" charset="-120"/>
              </a:rPr>
              <a:t>Blockchain-Based Land Record Management Systems</a:t>
            </a:r>
          </a:p>
          <a:p>
            <a:pPr>
              <a:lnSpc>
                <a:spcPct val="104000"/>
              </a:lnSpc>
            </a:pPr>
            <a:r>
              <a:rPr lang="en-US" sz="2400" dirty="0">
                <a:solidFill>
                  <a:srgbClr val="3257B8"/>
                </a:solidFill>
                <a:latin typeface="Roboto Slab" pitchFamily="34" charset="0"/>
                <a:ea typeface="Roboto Slab" pitchFamily="34" charset="-122"/>
                <a:cs typeface="Roboto Slab" pitchFamily="34" charset="-120"/>
              </a:rPr>
              <a:t>Major Project Review-I</a:t>
            </a:r>
            <a:endParaRPr lang="en-US" sz="2400" dirty="0"/>
          </a:p>
        </p:txBody>
      </p:sp>
      <p:sp>
        <p:nvSpPr>
          <p:cNvPr id="3" name="Text 1"/>
          <p:cNvSpPr/>
          <p:nvPr/>
        </p:nvSpPr>
        <p:spPr>
          <a:xfrm>
            <a:off x="4744191" y="4531906"/>
            <a:ext cx="4784820" cy="1559322"/>
          </a:xfrm>
          <a:prstGeom prst="rect">
            <a:avLst/>
          </a:prstGeom>
          <a:noFill/>
          <a:ln/>
        </p:spPr>
        <p:txBody>
          <a:bodyPr wrap="square" lIns="0" tIns="0" rIns="0" bIns="0" rtlCol="0" anchor="t">
            <a:normAutofit/>
          </a:bodyPr>
          <a:lstStyle/>
          <a:p>
            <a:r>
              <a:rPr lang="en-IN" sz="1600" b="1" dirty="0"/>
              <a:t>Project Guide</a:t>
            </a:r>
          </a:p>
          <a:p>
            <a:r>
              <a:rPr lang="en-IN" sz="1600" b="1" dirty="0"/>
              <a:t>K. Jyothi</a:t>
            </a:r>
            <a:endParaRPr lang="en-IN" sz="1600" dirty="0"/>
          </a:p>
          <a:p>
            <a:r>
              <a:rPr lang="en-IN" sz="1600" dirty="0"/>
              <a:t>Associate Professor</a:t>
            </a:r>
          </a:p>
          <a:p>
            <a:r>
              <a:rPr lang="en-IN" sz="1600" dirty="0"/>
              <a:t>Department of Artificial Intelligence</a:t>
            </a:r>
          </a:p>
          <a:p>
            <a:r>
              <a:rPr lang="en-IN" sz="1600" dirty="0"/>
              <a:t>Usha Rama College of Engineering &amp; Technology</a:t>
            </a:r>
          </a:p>
          <a:p>
            <a:endParaRPr lang="en-IN" sz="1600" dirty="0"/>
          </a:p>
          <a:p>
            <a:endParaRPr lang="en-IN" sz="1600" dirty="0"/>
          </a:p>
        </p:txBody>
      </p:sp>
      <p:sp>
        <p:nvSpPr>
          <p:cNvPr id="5" name="Text 1">
            <a:extLst>
              <a:ext uri="{FF2B5EF4-FFF2-40B4-BE49-F238E27FC236}">
                <a16:creationId xmlns:a16="http://schemas.microsoft.com/office/drawing/2014/main" id="{7D0E25D9-FD00-D00A-6598-9FD6C83CAC80}"/>
              </a:ext>
            </a:extLst>
          </p:cNvPr>
          <p:cNvSpPr/>
          <p:nvPr/>
        </p:nvSpPr>
        <p:spPr>
          <a:xfrm>
            <a:off x="813875" y="4531906"/>
            <a:ext cx="3316968" cy="1559322"/>
          </a:xfrm>
          <a:prstGeom prst="rect">
            <a:avLst/>
          </a:prstGeom>
          <a:noFill/>
          <a:ln/>
        </p:spPr>
        <p:txBody>
          <a:bodyPr wrap="square" lIns="0" tIns="0" rIns="0" bIns="0" rtlCol="0" anchor="t">
            <a:normAutofit/>
          </a:bodyPr>
          <a:lstStyle/>
          <a:p>
            <a:r>
              <a:rPr lang="en-IN" sz="1600" b="1" dirty="0"/>
              <a:t>Submitted By</a:t>
            </a:r>
          </a:p>
          <a:p>
            <a:r>
              <a:rPr lang="en-IN" sz="1600" b="1" dirty="0"/>
              <a:t>Team Members</a:t>
            </a:r>
            <a:endParaRPr lang="en-IN" sz="1600" dirty="0"/>
          </a:p>
          <a:p>
            <a:pPr lvl="0"/>
            <a:r>
              <a:rPr lang="en-IN" sz="1600" dirty="0"/>
              <a:t>24NG5A5403 – </a:t>
            </a:r>
            <a:r>
              <a:rPr lang="en-IN" sz="1600" dirty="0" err="1"/>
              <a:t>P.Mansoor</a:t>
            </a:r>
            <a:r>
              <a:rPr lang="en-IN" sz="1600" dirty="0"/>
              <a:t> Ali Khan </a:t>
            </a:r>
          </a:p>
          <a:p>
            <a:pPr lvl="0"/>
            <a:r>
              <a:rPr lang="en-IN" sz="1600" dirty="0"/>
              <a:t>23NG1A5451 – Abdul </a:t>
            </a:r>
            <a:r>
              <a:rPr lang="en-IN" sz="1600" dirty="0" err="1"/>
              <a:t>Rafiath</a:t>
            </a:r>
            <a:r>
              <a:rPr lang="en-IN" sz="1600" dirty="0"/>
              <a:t> Shaik</a:t>
            </a:r>
          </a:p>
          <a:p>
            <a:pPr lvl="0"/>
            <a:r>
              <a:rPr lang="en-IN" sz="1600" dirty="0"/>
              <a:t>23NG1A5439 – </a:t>
            </a:r>
            <a:r>
              <a:rPr lang="en-IN" sz="1600" i="1" dirty="0"/>
              <a:t>Dinesh Charan</a:t>
            </a:r>
            <a:endParaRPr lang="en-IN" sz="1600" dirty="0"/>
          </a:p>
          <a:p>
            <a:pPr lvl="0"/>
            <a:r>
              <a:rPr lang="en-IN" sz="1600" dirty="0"/>
              <a:t>23NG1A5438 – Shanmukh</a:t>
            </a:r>
          </a:p>
          <a:p>
            <a:pPr marL="0" indent="0" algn="l">
              <a:lnSpc>
                <a:spcPct val="133000"/>
              </a:lnSpc>
              <a:buNone/>
            </a:pP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12223" y="684759"/>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3257B8"/>
                </a:solidFill>
                <a:latin typeface="Roboto Slab" pitchFamily="34" charset="0"/>
                <a:ea typeface="Roboto Slab" pitchFamily="34" charset="-122"/>
                <a:cs typeface="Roboto Slab" pitchFamily="34" charset="-120"/>
              </a:rPr>
              <a:t>Project Abstract</a:t>
            </a:r>
            <a:endParaRPr lang="en-US" sz="3700" dirty="0"/>
          </a:p>
        </p:txBody>
      </p:sp>
      <p:sp>
        <p:nvSpPr>
          <p:cNvPr id="4" name="Text 1"/>
          <p:cNvSpPr/>
          <p:nvPr/>
        </p:nvSpPr>
        <p:spPr>
          <a:xfrm>
            <a:off x="977479" y="2952948"/>
            <a:ext cx="2966467" cy="295275"/>
          </a:xfrm>
          <a:prstGeom prst="rect">
            <a:avLst/>
          </a:prstGeom>
          <a:noFill/>
          <a:ln/>
        </p:spPr>
        <p:txBody>
          <a:bodyPr wrap="none" lIns="0" tIns="0" rIns="0" bIns="0" rtlCol="0" anchor="t"/>
          <a:lstStyle/>
          <a:p>
            <a:pPr marL="0" indent="0" algn="l">
              <a:lnSpc>
                <a:spcPct val="104000"/>
              </a:lnSpc>
              <a:buNone/>
            </a:pPr>
            <a:endParaRPr lang="en-US" sz="1850" dirty="0"/>
          </a:p>
        </p:txBody>
      </p:sp>
      <p:sp>
        <p:nvSpPr>
          <p:cNvPr id="5" name="Text 2"/>
          <p:cNvSpPr/>
          <p:nvPr/>
        </p:nvSpPr>
        <p:spPr>
          <a:xfrm>
            <a:off x="977479" y="3361630"/>
            <a:ext cx="2966467" cy="1512094"/>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2223" y="1802297"/>
            <a:ext cx="11010914" cy="3614959"/>
          </a:xfrm>
          <a:prstGeom prst="rect">
            <a:avLst/>
          </a:prstGeom>
        </p:spPr>
      </p:pic>
      <p:sp>
        <p:nvSpPr>
          <p:cNvPr id="7" name="Text 3"/>
          <p:cNvSpPr/>
          <p:nvPr/>
        </p:nvSpPr>
        <p:spPr>
          <a:xfrm>
            <a:off x="4663363" y="2952948"/>
            <a:ext cx="2966467" cy="295275"/>
          </a:xfrm>
          <a:prstGeom prst="rect">
            <a:avLst/>
          </a:prstGeom>
          <a:noFill/>
          <a:ln/>
        </p:spPr>
        <p:txBody>
          <a:bodyPr wrap="none" lIns="0" tIns="0" rIns="0" bIns="0" rtlCol="0" anchor="t"/>
          <a:lstStyle/>
          <a:p>
            <a:pPr marL="0" indent="0" algn="l">
              <a:lnSpc>
                <a:spcPct val="104000"/>
              </a:lnSpc>
              <a:buNone/>
            </a:pPr>
            <a:endParaRPr lang="en-US" sz="1850" dirty="0"/>
          </a:p>
        </p:txBody>
      </p:sp>
      <p:sp>
        <p:nvSpPr>
          <p:cNvPr id="8" name="Text 4"/>
          <p:cNvSpPr/>
          <p:nvPr/>
        </p:nvSpPr>
        <p:spPr>
          <a:xfrm>
            <a:off x="4663363" y="3361630"/>
            <a:ext cx="2966467" cy="1512094"/>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sp>
        <p:nvSpPr>
          <p:cNvPr id="10" name="Text 5"/>
          <p:cNvSpPr/>
          <p:nvPr/>
        </p:nvSpPr>
        <p:spPr>
          <a:xfrm>
            <a:off x="1172107" y="2425409"/>
            <a:ext cx="10516534" cy="2785833"/>
          </a:xfrm>
          <a:prstGeom prst="rect">
            <a:avLst/>
          </a:prstGeom>
          <a:noFill/>
          <a:ln/>
        </p:spPr>
        <p:txBody>
          <a:bodyPr wrap="none" lIns="0" tIns="0" rIns="0" bIns="0" rtlCol="0" anchor="t"/>
          <a:lstStyle/>
          <a:p>
            <a:pPr marL="0" indent="0" algn="just">
              <a:lnSpc>
                <a:spcPct val="104000"/>
              </a:lnSpc>
              <a:buNone/>
            </a:pPr>
            <a:r>
              <a:rPr lang="en-US" sz="2000" dirty="0">
                <a:solidFill>
                  <a:srgbClr val="15213F"/>
                </a:solidFill>
                <a:latin typeface="Roboto Slab" pitchFamily="34" charset="0"/>
                <a:ea typeface="Roboto Slab" pitchFamily="34" charset="-122"/>
                <a:cs typeface="Roboto Slab" pitchFamily="34" charset="-120"/>
              </a:rPr>
              <a:t>Land record management is essential for secure property ownership and legal </a:t>
            </a:r>
          </a:p>
          <a:p>
            <a:pPr marL="0" indent="0" algn="just">
              <a:lnSpc>
                <a:spcPct val="104000"/>
              </a:lnSpc>
              <a:buNone/>
            </a:pPr>
            <a:r>
              <a:rPr lang="en-US" sz="2000" dirty="0">
                <a:solidFill>
                  <a:srgbClr val="15213F"/>
                </a:solidFill>
                <a:latin typeface="Roboto Slab" pitchFamily="34" charset="0"/>
                <a:ea typeface="Roboto Slab" pitchFamily="34" charset="-122"/>
                <a:cs typeface="Roboto Slab" pitchFamily="34" charset="-120"/>
              </a:rPr>
              <a:t>transactions. However, existing systems face challenges such as document tampering,</a:t>
            </a:r>
          </a:p>
          <a:p>
            <a:pPr marL="0" indent="0" algn="just">
              <a:lnSpc>
                <a:spcPct val="104000"/>
              </a:lnSpc>
              <a:buNone/>
            </a:pPr>
            <a:r>
              <a:rPr lang="en-US" sz="2000" dirty="0">
                <a:solidFill>
                  <a:srgbClr val="15213F"/>
                </a:solidFill>
                <a:latin typeface="Roboto Slab" pitchFamily="34" charset="0"/>
                <a:ea typeface="Roboto Slab" pitchFamily="34" charset="-122"/>
                <a:cs typeface="Roboto Slab" pitchFamily="34" charset="-120"/>
              </a:rPr>
              <a:t>ownership disputes, fraud, and slow verification. To understand these issues,</a:t>
            </a:r>
          </a:p>
          <a:p>
            <a:pPr marL="0" indent="0" algn="just">
              <a:lnSpc>
                <a:spcPct val="104000"/>
              </a:lnSpc>
              <a:buNone/>
            </a:pPr>
            <a:r>
              <a:rPr lang="en-US" sz="2000" dirty="0">
                <a:solidFill>
                  <a:srgbClr val="15213F"/>
                </a:solidFill>
                <a:latin typeface="Roboto Slab" pitchFamily="34" charset="0"/>
                <a:ea typeface="Roboto Slab" pitchFamily="34" charset="-122"/>
                <a:cs typeface="Roboto Slab" pitchFamily="34" charset="-120"/>
              </a:rPr>
              <a:t>a literature survey of recent blockchain-based land record management systems was</a:t>
            </a:r>
          </a:p>
          <a:p>
            <a:pPr marL="0" indent="0" algn="just">
              <a:lnSpc>
                <a:spcPct val="104000"/>
              </a:lnSpc>
              <a:buNone/>
            </a:pPr>
            <a:r>
              <a:rPr lang="en-US" sz="2000" dirty="0">
                <a:solidFill>
                  <a:srgbClr val="15213F"/>
                </a:solidFill>
                <a:latin typeface="Roboto Slab" pitchFamily="34" charset="0"/>
                <a:ea typeface="Roboto Slab" pitchFamily="34" charset="-122"/>
                <a:cs typeface="Roboto Slab" pitchFamily="34" charset="-120"/>
              </a:rPr>
              <a:t> conducted. The study analyzes existing problems, proposed solutions, technologies,</a:t>
            </a:r>
          </a:p>
          <a:p>
            <a:pPr marL="0" indent="0" algn="just">
              <a:lnSpc>
                <a:spcPct val="104000"/>
              </a:lnSpc>
              <a:buNone/>
            </a:pPr>
            <a:r>
              <a:rPr lang="en-US" sz="2000" dirty="0">
                <a:solidFill>
                  <a:srgbClr val="15213F"/>
                </a:solidFill>
                <a:latin typeface="Roboto Slab" pitchFamily="34" charset="0"/>
                <a:ea typeface="Roboto Slab" pitchFamily="34" charset="-122"/>
                <a:cs typeface="Roboto Slab" pitchFamily="34" charset="-120"/>
              </a:rPr>
              <a:t>and research gaps to identify a suitable implementation approach for developing a</a:t>
            </a:r>
          </a:p>
          <a:p>
            <a:pPr marL="0" indent="0" algn="just">
              <a:lnSpc>
                <a:spcPct val="104000"/>
              </a:lnSpc>
              <a:buNone/>
            </a:pPr>
            <a:r>
              <a:rPr lang="en-US" sz="2000" dirty="0">
                <a:solidFill>
                  <a:srgbClr val="15213F"/>
                </a:solidFill>
                <a:latin typeface="Roboto Slab" pitchFamily="34" charset="0"/>
                <a:ea typeface="Roboto Slab" pitchFamily="34" charset="-122"/>
                <a:cs typeface="Roboto Slab" pitchFamily="34" charset="-120"/>
              </a:rPr>
              <a:t>secure, transparent, and reliable land record management system. </a:t>
            </a:r>
            <a:endParaRPr lang="en-US" sz="2000" dirty="0"/>
          </a:p>
        </p:txBody>
      </p:sp>
      <p:sp>
        <p:nvSpPr>
          <p:cNvPr id="11" name="Text 6"/>
          <p:cNvSpPr/>
          <p:nvPr/>
        </p:nvSpPr>
        <p:spPr>
          <a:xfrm>
            <a:off x="8349247" y="3361630"/>
            <a:ext cx="2966467" cy="1209675"/>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nvSpPr>
        <p:spPr>
          <a:xfrm>
            <a:off x="774879" y="2603698"/>
            <a:ext cx="1402620" cy="173831"/>
          </a:xfrm>
          <a:prstGeom prst="rect">
            <a:avLst/>
          </a:prstGeom>
          <a:noFill/>
          <a:ln/>
        </p:spPr>
        <p:txBody>
          <a:bodyPr wrap="none" lIns="0" tIns="0" rIns="0" bIns="0" rtlCol="0" anchor="t"/>
          <a:lstStyle/>
          <a:p>
            <a:pPr marL="0" indent="0" algn="l">
              <a:lnSpc>
                <a:spcPct val="96000"/>
              </a:lnSpc>
              <a:buNone/>
            </a:pPr>
            <a:endParaRPr lang="en-US" sz="1150" dirty="0"/>
          </a:p>
        </p:txBody>
      </p:sp>
      <p:sp>
        <p:nvSpPr>
          <p:cNvPr id="4" name="Text 2"/>
          <p:cNvSpPr/>
          <p:nvPr/>
        </p:nvSpPr>
        <p:spPr>
          <a:xfrm>
            <a:off x="661475" y="507821"/>
            <a:ext cx="10868745" cy="815181"/>
          </a:xfrm>
          <a:prstGeom prst="rect">
            <a:avLst/>
          </a:prstGeom>
          <a:noFill/>
          <a:ln/>
        </p:spPr>
        <p:txBody>
          <a:bodyPr wrap="none" lIns="0" tIns="0" rIns="0" bIns="0" rtlCol="0" anchor="t"/>
          <a:lstStyle/>
          <a:p>
            <a:pPr marL="0" indent="0" algn="l">
              <a:lnSpc>
                <a:spcPct val="104000"/>
              </a:lnSpc>
              <a:buNone/>
            </a:pPr>
            <a:r>
              <a:rPr lang="en-US" sz="5100" dirty="0">
                <a:solidFill>
                  <a:srgbClr val="3257B8"/>
                </a:solidFill>
                <a:latin typeface="Roboto Slab" pitchFamily="34" charset="0"/>
                <a:ea typeface="Roboto Slab" pitchFamily="34" charset="-122"/>
                <a:cs typeface="Roboto Slab" pitchFamily="34" charset="-120"/>
              </a:rPr>
              <a:t>Introduction</a:t>
            </a:r>
            <a:endParaRPr lang="en-US" sz="5100" dirty="0"/>
          </a:p>
        </p:txBody>
      </p:sp>
      <p:sp>
        <p:nvSpPr>
          <p:cNvPr id="5" name="Text 3"/>
          <p:cNvSpPr/>
          <p:nvPr/>
        </p:nvSpPr>
        <p:spPr>
          <a:xfrm>
            <a:off x="661475" y="1804908"/>
            <a:ext cx="11430569" cy="4336812"/>
          </a:xfrm>
          <a:prstGeom prst="rect">
            <a:avLst/>
          </a:prstGeom>
          <a:noFill/>
          <a:ln/>
        </p:spPr>
        <p:txBody>
          <a:bodyPr wrap="none" lIns="0" tIns="0" rIns="0" bIns="0" rtlCol="0" anchor="t"/>
          <a:lstStyle/>
          <a:p>
            <a:pPr marL="0" indent="0" algn="l">
              <a:lnSpc>
                <a:spcPct val="133000"/>
              </a:lnSpc>
              <a:buNone/>
            </a:pPr>
            <a:r>
              <a:rPr lang="en-US" dirty="0">
                <a:solidFill>
                  <a:srgbClr val="15213F"/>
                </a:solidFill>
                <a:latin typeface="Roboto" pitchFamily="34" charset="0"/>
                <a:ea typeface="Roboto" pitchFamily="34" charset="-122"/>
                <a:cs typeface="Roboto" pitchFamily="34" charset="-120"/>
              </a:rPr>
              <a:t>Land record management is the process of maintaining ownership, registration, and transfer details of land </a:t>
            </a:r>
          </a:p>
          <a:p>
            <a:pPr marL="0" indent="0" algn="l">
              <a:lnSpc>
                <a:spcPct val="133000"/>
              </a:lnSpc>
              <a:buNone/>
            </a:pPr>
            <a:r>
              <a:rPr lang="en-US" dirty="0">
                <a:solidFill>
                  <a:srgbClr val="15213F"/>
                </a:solidFill>
                <a:latin typeface="Roboto" pitchFamily="34" charset="0"/>
                <a:ea typeface="Roboto" pitchFamily="34" charset="-122"/>
                <a:cs typeface="Roboto" pitchFamily="34" charset="-120"/>
              </a:rPr>
              <a:t>properties. Traditional land registration systems rely on paper-based records and centralized databases, </a:t>
            </a:r>
          </a:p>
          <a:p>
            <a:pPr marL="0" indent="0" algn="l">
              <a:lnSpc>
                <a:spcPct val="133000"/>
              </a:lnSpc>
              <a:buNone/>
            </a:pPr>
            <a:r>
              <a:rPr lang="en-US" dirty="0">
                <a:solidFill>
                  <a:srgbClr val="15213F"/>
                </a:solidFill>
                <a:latin typeface="Roboto" pitchFamily="34" charset="0"/>
                <a:ea typeface="Roboto" pitchFamily="34" charset="-122"/>
                <a:cs typeface="Roboto" pitchFamily="34" charset="-120"/>
              </a:rPr>
              <a:t>making them vulnerable to fraud, document tampering, ownership disputes, and lengthy verification procedures.</a:t>
            </a:r>
          </a:p>
          <a:p>
            <a:pPr marL="0" indent="0" algn="l">
              <a:lnSpc>
                <a:spcPct val="133000"/>
              </a:lnSpc>
              <a:buNone/>
            </a:pPr>
            <a:r>
              <a:rPr lang="en-US" dirty="0">
                <a:solidFill>
                  <a:srgbClr val="15213F"/>
                </a:solidFill>
                <a:latin typeface="Roboto" pitchFamily="34" charset="0"/>
                <a:ea typeface="Roboto" pitchFamily="34" charset="-122"/>
                <a:cs typeface="Roboto" pitchFamily="34" charset="-120"/>
              </a:rPr>
              <a:t>Blockchain technology offers a decentralized and tamper-resistant approach that can improve transparency,</a:t>
            </a:r>
          </a:p>
          <a:p>
            <a:pPr marL="0" indent="0" algn="l">
              <a:lnSpc>
                <a:spcPct val="133000"/>
              </a:lnSpc>
              <a:buNone/>
            </a:pPr>
            <a:r>
              <a:rPr lang="en-US" dirty="0">
                <a:solidFill>
                  <a:srgbClr val="15213F"/>
                </a:solidFill>
                <a:latin typeface="Roboto" pitchFamily="34" charset="0"/>
                <a:ea typeface="Roboto" pitchFamily="34" charset="-122"/>
                <a:cs typeface="Roboto" pitchFamily="34" charset="-120"/>
              </a:rPr>
              <a:t>security, and trust in managing land records</a:t>
            </a:r>
          </a:p>
          <a:p>
            <a:pPr marL="0" indent="0" algn="l">
              <a:lnSpc>
                <a:spcPct val="133000"/>
              </a:lnSpc>
              <a:buNone/>
            </a:pPr>
            <a:endParaRPr lang="en-US" dirty="0">
              <a:solidFill>
                <a:srgbClr val="15213F"/>
              </a:solidFill>
              <a:latin typeface="Roboto" pitchFamily="34" charset="0"/>
              <a:ea typeface="Roboto" pitchFamily="34" charset="-122"/>
              <a:cs typeface="Roboto" pitchFamily="34" charset="-120"/>
            </a:endParaRPr>
          </a:p>
          <a:p>
            <a:pPr marL="0" indent="0" algn="l">
              <a:lnSpc>
                <a:spcPct val="133000"/>
              </a:lnSpc>
              <a:buNone/>
            </a:pPr>
            <a:r>
              <a:rPr lang="en-US" dirty="0">
                <a:solidFill>
                  <a:srgbClr val="15213F"/>
                </a:solidFill>
                <a:latin typeface="Roboto" pitchFamily="34" charset="0"/>
                <a:ea typeface="Roboto" pitchFamily="34" charset="-122"/>
                <a:cs typeface="Roboto" pitchFamily="34" charset="-120"/>
              </a:rPr>
              <a:t> </a:t>
            </a:r>
            <a:r>
              <a:rPr lang="en-US" b="1" dirty="0">
                <a:solidFill>
                  <a:srgbClr val="15213F"/>
                </a:solidFill>
                <a:latin typeface="Roboto" pitchFamily="34" charset="0"/>
                <a:ea typeface="Roboto" pitchFamily="34" charset="-122"/>
                <a:cs typeface="Roboto" pitchFamily="34" charset="-120"/>
              </a:rPr>
              <a:t>Need for the Study</a:t>
            </a:r>
          </a:p>
          <a:p>
            <a:pPr marL="285750" indent="-285750" algn="l">
              <a:lnSpc>
                <a:spcPct val="133000"/>
              </a:lnSpc>
              <a:buFont typeface="Arial" panose="020B0604020202020204" pitchFamily="34" charset="0"/>
              <a:buChar char="•"/>
            </a:pPr>
            <a:r>
              <a:rPr lang="en-US" dirty="0">
                <a:solidFill>
                  <a:srgbClr val="15213F"/>
                </a:solidFill>
                <a:latin typeface="Roboto" pitchFamily="34" charset="0"/>
                <a:ea typeface="Roboto" pitchFamily="34" charset="-122"/>
                <a:cs typeface="Roboto" pitchFamily="34" charset="-120"/>
              </a:rPr>
              <a:t>Paper-based records are prone to tampering.</a:t>
            </a:r>
          </a:p>
          <a:p>
            <a:pPr marL="285750" indent="-285750" algn="l">
              <a:lnSpc>
                <a:spcPct val="133000"/>
              </a:lnSpc>
              <a:buFont typeface="Arial" panose="020B0604020202020204" pitchFamily="34" charset="0"/>
              <a:buChar char="•"/>
            </a:pPr>
            <a:r>
              <a:rPr lang="en-US" dirty="0">
                <a:solidFill>
                  <a:srgbClr val="15213F"/>
                </a:solidFill>
                <a:latin typeface="Roboto" pitchFamily="34" charset="0"/>
                <a:ea typeface="Roboto" pitchFamily="34" charset="-122"/>
                <a:cs typeface="Roboto" pitchFamily="34" charset="-120"/>
              </a:rPr>
              <a:t>Land ownership disputes are increasing.</a:t>
            </a:r>
          </a:p>
          <a:p>
            <a:pPr marL="285750" indent="-285750" algn="l">
              <a:lnSpc>
                <a:spcPct val="133000"/>
              </a:lnSpc>
              <a:buFont typeface="Arial" panose="020B0604020202020204" pitchFamily="34" charset="0"/>
              <a:buChar char="•"/>
            </a:pPr>
            <a:r>
              <a:rPr lang="en-US" dirty="0">
                <a:solidFill>
                  <a:srgbClr val="15213F"/>
                </a:solidFill>
                <a:latin typeface="Roboto" pitchFamily="34" charset="0"/>
                <a:ea typeface="Roboto" pitchFamily="34" charset="-122"/>
                <a:cs typeface="Roboto" pitchFamily="34" charset="-120"/>
              </a:rPr>
              <a:t>Verification is time-consuming.</a:t>
            </a:r>
          </a:p>
          <a:p>
            <a:pPr marL="285750" indent="-285750" algn="l">
              <a:lnSpc>
                <a:spcPct val="133000"/>
              </a:lnSpc>
              <a:buFont typeface="Arial" panose="020B0604020202020204" pitchFamily="34" charset="0"/>
              <a:buChar char="•"/>
            </a:pPr>
            <a:r>
              <a:rPr lang="en-US" dirty="0">
                <a:solidFill>
                  <a:srgbClr val="15213F"/>
                </a:solidFill>
                <a:latin typeface="Roboto" pitchFamily="34" charset="0"/>
                <a:ea typeface="Roboto" pitchFamily="34" charset="-122"/>
                <a:cs typeface="Roboto" pitchFamily="34" charset="-120"/>
              </a:rPr>
              <a:t>Existing systems lack transparency and traceability.</a:t>
            </a:r>
          </a:p>
          <a:p>
            <a:pPr marL="285750" indent="-285750" algn="l">
              <a:lnSpc>
                <a:spcPct val="133000"/>
              </a:lnSpc>
              <a:buFont typeface="Arial" panose="020B0604020202020204" pitchFamily="34" charset="0"/>
              <a:buChar char="•"/>
            </a:pPr>
            <a:r>
              <a:rPr lang="en-US" dirty="0">
                <a:solidFill>
                  <a:srgbClr val="15213F"/>
                </a:solidFill>
                <a:latin typeface="Roboto" pitchFamily="34" charset="0"/>
                <a:ea typeface="Roboto" pitchFamily="34" charset="-122"/>
                <a:cs typeface="Roboto" pitchFamily="34" charset="-120"/>
              </a:rPr>
              <a:t>Blockchain offers secure and immutable record management.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3277691"/>
            <a:ext cx="4113804" cy="302419"/>
          </a:xfrm>
          <a:prstGeom prst="rect">
            <a:avLst/>
          </a:prstGeom>
          <a:noFill/>
          <a:ln/>
        </p:spPr>
        <p:txBody>
          <a:bodyPr wrap="none" lIns="0" tIns="0" rIns="0" bIns="0" rtlCol="0" anchor="t"/>
          <a:lstStyle/>
          <a:p>
            <a:pPr marL="0" indent="0" algn="l">
              <a:lnSpc>
                <a:spcPct val="133000"/>
              </a:lnSpc>
              <a:buNone/>
            </a:pPr>
            <a:endParaRPr lang="en-US" sz="1450" dirty="0"/>
          </a:p>
        </p:txBody>
      </p:sp>
      <p:sp>
        <p:nvSpPr>
          <p:cNvPr id="4" name="Text 2"/>
          <p:cNvSpPr/>
          <p:nvPr/>
        </p:nvSpPr>
        <p:spPr>
          <a:xfrm>
            <a:off x="3459481" y="946548"/>
            <a:ext cx="2287622" cy="474263"/>
          </a:xfrm>
          <a:prstGeom prst="rect">
            <a:avLst/>
          </a:prstGeom>
          <a:noFill/>
          <a:ln/>
        </p:spPr>
        <p:txBody>
          <a:bodyPr wrap="none" lIns="0" tIns="0" rIns="0" bIns="0" rtlCol="0" anchor="t"/>
          <a:lstStyle/>
          <a:p>
            <a:pPr marL="0" indent="0" algn="l">
              <a:lnSpc>
                <a:spcPct val="96000"/>
              </a:lnSpc>
              <a:buNone/>
            </a:pPr>
            <a:endParaRPr lang="en-US" sz="1150" dirty="0"/>
          </a:p>
        </p:txBody>
      </p:sp>
      <p:sp>
        <p:nvSpPr>
          <p:cNvPr id="5" name="Text 3"/>
          <p:cNvSpPr/>
          <p:nvPr/>
        </p:nvSpPr>
        <p:spPr>
          <a:xfrm>
            <a:off x="661475" y="619868"/>
            <a:ext cx="6903269" cy="590649"/>
          </a:xfrm>
          <a:prstGeom prst="rect">
            <a:avLst/>
          </a:prstGeom>
          <a:noFill/>
          <a:ln/>
        </p:spPr>
        <p:txBody>
          <a:bodyPr wrap="none" lIns="0" tIns="0" rIns="0" bIns="0" rtlCol="0" anchor="t"/>
          <a:lstStyle/>
          <a:p>
            <a:pPr marL="0" indent="0" algn="l">
              <a:lnSpc>
                <a:spcPct val="104000"/>
              </a:lnSpc>
              <a:buNone/>
            </a:pPr>
            <a:r>
              <a:rPr lang="en-US" sz="3700" dirty="0">
                <a:solidFill>
                  <a:srgbClr val="3257B8"/>
                </a:solidFill>
                <a:latin typeface="Roboto Slab" pitchFamily="34" charset="0"/>
                <a:ea typeface="Roboto Slab" pitchFamily="34" charset="-122"/>
                <a:cs typeface="Roboto Slab" pitchFamily="34" charset="-120"/>
              </a:rPr>
              <a:t>Scope Of Project</a:t>
            </a:r>
            <a:endParaRPr lang="en-US" sz="3700" dirty="0"/>
          </a:p>
        </p:txBody>
      </p:sp>
      <p:sp>
        <p:nvSpPr>
          <p:cNvPr id="6" name="Text 4"/>
          <p:cNvSpPr/>
          <p:nvPr/>
        </p:nvSpPr>
        <p:spPr>
          <a:xfrm>
            <a:off x="784602" y="1506188"/>
            <a:ext cx="11270238" cy="2221610"/>
          </a:xfrm>
          <a:prstGeom prst="rect">
            <a:avLst/>
          </a:prstGeom>
          <a:noFill/>
          <a:ln/>
        </p:spPr>
        <p:txBody>
          <a:bodyPr wrap="none" lIns="0" tIns="0" rIns="0" bIns="0" rtlCol="0" anchor="t"/>
          <a:lstStyle/>
          <a:p>
            <a:pPr marL="0" indent="0" algn="l">
              <a:lnSpc>
                <a:spcPct val="133000"/>
              </a:lnSpc>
              <a:buNone/>
            </a:pPr>
            <a:r>
              <a:rPr lang="en-US" b="1" i="1" dirty="0">
                <a:solidFill>
                  <a:srgbClr val="15213F"/>
                </a:solidFill>
                <a:latin typeface="Roboto" pitchFamily="34" charset="0"/>
                <a:ea typeface="Roboto" pitchFamily="34" charset="-122"/>
                <a:cs typeface="Roboto" pitchFamily="34" charset="-120"/>
              </a:rPr>
              <a:t>Current Scope</a:t>
            </a:r>
          </a:p>
          <a:p>
            <a:pPr marL="0" indent="0" algn="l">
              <a:lnSpc>
                <a:spcPct val="133000"/>
              </a:lnSpc>
              <a:buNone/>
            </a:pPr>
            <a:r>
              <a:rPr lang="en-US" b="1" dirty="0"/>
              <a:t>The current phase of the project focuses on understanding blockchain applications in land record management through</a:t>
            </a:r>
          </a:p>
          <a:p>
            <a:pPr marL="0" indent="0" algn="l">
              <a:lnSpc>
                <a:spcPct val="133000"/>
              </a:lnSpc>
              <a:buNone/>
            </a:pPr>
            <a:r>
              <a:rPr lang="en-US" b="1" dirty="0"/>
              <a:t>a comprehensive literature survey. Existing research papers are being analyzed to identify common challenges, </a:t>
            </a:r>
          </a:p>
          <a:p>
            <a:pPr marL="0" indent="0" algn="l">
              <a:lnSpc>
                <a:spcPct val="133000"/>
              </a:lnSpc>
              <a:buNone/>
            </a:pPr>
            <a:r>
              <a:rPr lang="en-US" b="1" dirty="0"/>
              <a:t>proposed solutions, technologies used, and research gaps. The findings from this study will support the selection of</a:t>
            </a:r>
          </a:p>
          <a:p>
            <a:pPr marL="0" indent="0" algn="l">
              <a:lnSpc>
                <a:spcPct val="133000"/>
              </a:lnSpc>
              <a:buNone/>
            </a:pPr>
            <a:r>
              <a:rPr lang="en-US" b="1" dirty="0"/>
              <a:t> an appropriate implementation approach for the proposed project.</a:t>
            </a:r>
          </a:p>
        </p:txBody>
      </p:sp>
      <p:sp>
        <p:nvSpPr>
          <p:cNvPr id="7" name="Text 5"/>
          <p:cNvSpPr/>
          <p:nvPr/>
        </p:nvSpPr>
        <p:spPr>
          <a:xfrm>
            <a:off x="784602" y="3943320"/>
            <a:ext cx="8283198" cy="2221610"/>
          </a:xfrm>
          <a:prstGeom prst="rect">
            <a:avLst/>
          </a:prstGeom>
          <a:noFill/>
          <a:ln/>
        </p:spPr>
        <p:txBody>
          <a:bodyPr wrap="square" lIns="0" tIns="0" rIns="0" bIns="0" rtlCol="0" anchor="t">
            <a:normAutofit fontScale="92500" lnSpcReduction="20000"/>
          </a:bodyPr>
          <a:lstStyle/>
          <a:p>
            <a:pPr algn="l">
              <a:lnSpc>
                <a:spcPct val="133000"/>
              </a:lnSpc>
              <a:buSzPct val="100000"/>
            </a:pPr>
            <a:r>
              <a:rPr lang="en-US" b="1" dirty="0">
                <a:solidFill>
                  <a:srgbClr val="15213F"/>
                </a:solidFill>
                <a:latin typeface="Roboto Bold" pitchFamily="34" charset="0"/>
                <a:ea typeface="Roboto Bold" pitchFamily="34" charset="-122"/>
                <a:cs typeface="Roboto Bold" pitchFamily="34" charset="-120"/>
              </a:rPr>
              <a:t>Scope Includes</a:t>
            </a:r>
          </a:p>
          <a:p>
            <a:pPr marL="285750" indent="-285750" algn="l">
              <a:lnSpc>
                <a:spcPct val="133000"/>
              </a:lnSpc>
              <a:buSzPct val="100000"/>
              <a:buFont typeface="Arial" panose="020B0604020202020204" pitchFamily="34" charset="0"/>
              <a:buChar char="•"/>
            </a:pPr>
            <a:r>
              <a:rPr lang="en-US" b="1" dirty="0">
                <a:solidFill>
                  <a:srgbClr val="15213F"/>
                </a:solidFill>
                <a:latin typeface="Roboto Bold" pitchFamily="34" charset="0"/>
                <a:ea typeface="Roboto Bold" pitchFamily="34" charset="-122"/>
                <a:cs typeface="Roboto Bold" pitchFamily="34" charset="-120"/>
              </a:rPr>
              <a:t>Study of blockchain applications in land record management.</a:t>
            </a:r>
          </a:p>
          <a:p>
            <a:pPr marL="285750" indent="-285750" algn="l">
              <a:lnSpc>
                <a:spcPct val="133000"/>
              </a:lnSpc>
              <a:buSzPct val="100000"/>
              <a:buFont typeface="Arial" panose="020B0604020202020204" pitchFamily="34" charset="0"/>
              <a:buChar char="•"/>
            </a:pPr>
            <a:r>
              <a:rPr lang="en-US" b="1" dirty="0">
                <a:solidFill>
                  <a:srgbClr val="15213F"/>
                </a:solidFill>
                <a:latin typeface="Roboto Bold" pitchFamily="34" charset="0"/>
                <a:ea typeface="Roboto Bold" pitchFamily="34" charset="-122"/>
                <a:cs typeface="Roboto Bold" pitchFamily="34" charset="-120"/>
              </a:rPr>
              <a:t>Comparative analysis of recent research papers.</a:t>
            </a:r>
          </a:p>
          <a:p>
            <a:pPr marL="285750" indent="-285750" algn="l">
              <a:lnSpc>
                <a:spcPct val="133000"/>
              </a:lnSpc>
              <a:buSzPct val="100000"/>
              <a:buFont typeface="Arial" panose="020B0604020202020204" pitchFamily="34" charset="0"/>
              <a:buChar char="•"/>
            </a:pPr>
            <a:r>
              <a:rPr lang="en-US" b="1" dirty="0">
                <a:solidFill>
                  <a:srgbClr val="15213F"/>
                </a:solidFill>
                <a:latin typeface="Roboto Bold" pitchFamily="34" charset="0"/>
                <a:ea typeface="Roboto Bold" pitchFamily="34" charset="-122"/>
                <a:cs typeface="Roboto Bold" pitchFamily="34" charset="-120"/>
              </a:rPr>
              <a:t>Identification of common research gaps and limitations.</a:t>
            </a:r>
          </a:p>
          <a:p>
            <a:pPr marL="285750" indent="-285750" algn="l">
              <a:lnSpc>
                <a:spcPct val="133000"/>
              </a:lnSpc>
              <a:buSzPct val="100000"/>
              <a:buFont typeface="Arial" panose="020B0604020202020204" pitchFamily="34" charset="0"/>
              <a:buChar char="•"/>
            </a:pPr>
            <a:r>
              <a:rPr lang="en-US" b="1" dirty="0">
                <a:solidFill>
                  <a:srgbClr val="15213F"/>
                </a:solidFill>
                <a:latin typeface="Roboto Bold" pitchFamily="34" charset="0"/>
                <a:ea typeface="Roboto Bold" pitchFamily="34" charset="-122"/>
                <a:cs typeface="Roboto Bold" pitchFamily="34" charset="-120"/>
              </a:rPr>
              <a:t>Analysis of technologies used in existing systems.</a:t>
            </a:r>
          </a:p>
          <a:p>
            <a:pPr marL="285750" indent="-285750" algn="l">
              <a:lnSpc>
                <a:spcPct val="133000"/>
              </a:lnSpc>
              <a:buSzPct val="100000"/>
              <a:buFont typeface="Arial" panose="020B0604020202020204" pitchFamily="34" charset="0"/>
              <a:buChar char="•"/>
            </a:pPr>
            <a:r>
              <a:rPr lang="en-US" b="1" dirty="0">
                <a:solidFill>
                  <a:srgbClr val="15213F"/>
                </a:solidFill>
                <a:latin typeface="Roboto Bold" pitchFamily="34" charset="0"/>
                <a:ea typeface="Roboto Bold" pitchFamily="34" charset="-122"/>
                <a:cs typeface="Roboto Bold" pitchFamily="34" charset="-120"/>
              </a:rPr>
              <a:t>Evaluation of proposed solutions from previous work.</a:t>
            </a:r>
          </a:p>
          <a:p>
            <a:pPr marL="285750" indent="-285750" algn="l">
              <a:lnSpc>
                <a:spcPct val="133000"/>
              </a:lnSpc>
              <a:buSzPct val="100000"/>
              <a:buFont typeface="Arial" panose="020B0604020202020204" pitchFamily="34" charset="0"/>
              <a:buChar char="•"/>
            </a:pPr>
            <a:r>
              <a:rPr lang="en-US" b="1" dirty="0">
                <a:solidFill>
                  <a:srgbClr val="15213F"/>
                </a:solidFill>
                <a:latin typeface="Roboto Bold" pitchFamily="34" charset="0"/>
                <a:ea typeface="Roboto Bold" pitchFamily="34" charset="-122"/>
                <a:cs typeface="Roboto Bold" pitchFamily="34" charset="-120"/>
              </a:rPr>
              <a:t>Selection of a suitable base paper for implementation.</a:t>
            </a:r>
          </a:p>
          <a:p>
            <a:pPr algn="l">
              <a:lnSpc>
                <a:spcPct val="133000"/>
              </a:lnSpc>
              <a:buSzPct val="100000"/>
            </a:pPr>
            <a:endParaRPr lang="en-US" b="1" dirty="0">
              <a:solidFill>
                <a:srgbClr val="15213F"/>
              </a:solidFill>
              <a:latin typeface="Roboto Bold" pitchFamily="34" charset="0"/>
              <a:ea typeface="Roboto Bold" pitchFamily="34" charset="-122"/>
              <a:cs typeface="Roboto Bold" pitchFamily="34" charset="-120"/>
            </a:endParaRPr>
          </a:p>
          <a:p>
            <a:pPr algn="l">
              <a:lnSpc>
                <a:spcPct val="133000"/>
              </a:lnSpc>
              <a:buSzPct val="100000"/>
            </a:pPr>
            <a:endParaRPr lang="en-US" dirty="0"/>
          </a:p>
        </p:txBody>
      </p:sp>
      <p:sp>
        <p:nvSpPr>
          <p:cNvPr id="10" name="Text 7"/>
          <p:cNvSpPr/>
          <p:nvPr/>
        </p:nvSpPr>
        <p:spPr>
          <a:xfrm>
            <a:off x="8585009" y="3919414"/>
            <a:ext cx="6100015" cy="604838"/>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0934" y="149007"/>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3257B8"/>
                </a:solidFill>
                <a:latin typeface="Roboto Slab" pitchFamily="34" charset="0"/>
                <a:ea typeface="Roboto Slab" pitchFamily="34" charset="-122"/>
                <a:cs typeface="Roboto Slab" pitchFamily="34" charset="-120"/>
              </a:rPr>
              <a:t>Literature Review</a:t>
            </a:r>
            <a:endParaRPr lang="en-US" sz="3700" dirty="0"/>
          </a:p>
        </p:txBody>
      </p:sp>
      <p:sp>
        <p:nvSpPr>
          <p:cNvPr id="3" name="Text 1"/>
          <p:cNvSpPr/>
          <p:nvPr/>
        </p:nvSpPr>
        <p:spPr>
          <a:xfrm>
            <a:off x="713670" y="777457"/>
            <a:ext cx="11478330" cy="302419"/>
          </a:xfrm>
          <a:prstGeom prst="rect">
            <a:avLst/>
          </a:prstGeom>
          <a:noFill/>
          <a:ln/>
        </p:spPr>
        <p:txBody>
          <a:bodyPr wrap="none" lIns="0" tIns="0" rIns="0" bIns="0" rtlCol="0" anchor="t"/>
          <a:lstStyle/>
          <a:p>
            <a:pPr marL="0" indent="0" algn="l">
              <a:lnSpc>
                <a:spcPct val="133000"/>
              </a:lnSpc>
              <a:buNone/>
            </a:pPr>
            <a:r>
              <a:rPr lang="en-US" sz="1600" i="1" dirty="0">
                <a:solidFill>
                  <a:srgbClr val="15213F"/>
                </a:solidFill>
                <a:latin typeface="Roboto" pitchFamily="34" charset="0"/>
                <a:ea typeface="Roboto" pitchFamily="34" charset="-122"/>
                <a:cs typeface="Roboto" pitchFamily="34" charset="-120"/>
              </a:rPr>
              <a:t>Systematic Literature Reviews &amp; Survey Papers</a:t>
            </a:r>
            <a:endParaRPr lang="en-US" sz="1600" dirty="0"/>
          </a:p>
        </p:txBody>
      </p:sp>
      <p:sp>
        <p:nvSpPr>
          <p:cNvPr id="5" name="Text 3"/>
          <p:cNvSpPr/>
          <p:nvPr/>
        </p:nvSpPr>
        <p:spPr>
          <a:xfrm>
            <a:off x="850482" y="2495748"/>
            <a:ext cx="2129380" cy="295275"/>
          </a:xfrm>
          <a:prstGeom prst="rect">
            <a:avLst/>
          </a:prstGeom>
          <a:noFill/>
          <a:ln/>
        </p:spPr>
        <p:txBody>
          <a:bodyPr wrap="none" lIns="0" tIns="0" rIns="0" bIns="0" rtlCol="0" anchor="t"/>
          <a:lstStyle/>
          <a:p>
            <a:pPr marL="0" indent="0" algn="l">
              <a:lnSpc>
                <a:spcPct val="104000"/>
              </a:lnSpc>
              <a:buNone/>
            </a:pPr>
            <a:endParaRPr lang="en-US" sz="1850" dirty="0"/>
          </a:p>
        </p:txBody>
      </p:sp>
      <p:sp>
        <p:nvSpPr>
          <p:cNvPr id="6" name="Text 4"/>
          <p:cNvSpPr/>
          <p:nvPr/>
        </p:nvSpPr>
        <p:spPr>
          <a:xfrm>
            <a:off x="850482" y="2980035"/>
            <a:ext cx="2129380" cy="1209675"/>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sp>
        <p:nvSpPr>
          <p:cNvPr id="8" name="Text 6"/>
          <p:cNvSpPr/>
          <p:nvPr/>
        </p:nvSpPr>
        <p:spPr>
          <a:xfrm>
            <a:off x="3546882" y="2495748"/>
            <a:ext cx="2129380" cy="295275"/>
          </a:xfrm>
          <a:prstGeom prst="rect">
            <a:avLst/>
          </a:prstGeom>
          <a:noFill/>
          <a:ln/>
        </p:spPr>
        <p:txBody>
          <a:bodyPr wrap="none" lIns="0" tIns="0" rIns="0" bIns="0" rtlCol="0" anchor="t"/>
          <a:lstStyle/>
          <a:p>
            <a:pPr marL="0" indent="0" algn="l">
              <a:lnSpc>
                <a:spcPct val="104000"/>
              </a:lnSpc>
              <a:buNone/>
            </a:pPr>
            <a:endParaRPr lang="en-US" sz="1850" dirty="0"/>
          </a:p>
        </p:txBody>
      </p:sp>
      <p:sp>
        <p:nvSpPr>
          <p:cNvPr id="9" name="Text 7"/>
          <p:cNvSpPr/>
          <p:nvPr/>
        </p:nvSpPr>
        <p:spPr>
          <a:xfrm>
            <a:off x="3546882" y="2980035"/>
            <a:ext cx="2129380" cy="1209675"/>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sp>
        <p:nvSpPr>
          <p:cNvPr id="11" name="Text 9"/>
          <p:cNvSpPr/>
          <p:nvPr/>
        </p:nvSpPr>
        <p:spPr>
          <a:xfrm>
            <a:off x="850482" y="4756745"/>
            <a:ext cx="4825780" cy="295275"/>
          </a:xfrm>
          <a:prstGeom prst="rect">
            <a:avLst/>
          </a:prstGeom>
          <a:noFill/>
          <a:ln/>
        </p:spPr>
        <p:txBody>
          <a:bodyPr wrap="none" lIns="0" tIns="0" rIns="0" bIns="0" rtlCol="0" anchor="t"/>
          <a:lstStyle/>
          <a:p>
            <a:pPr marL="0" indent="0" algn="l">
              <a:lnSpc>
                <a:spcPct val="104000"/>
              </a:lnSpc>
              <a:buNone/>
            </a:pPr>
            <a:endParaRPr lang="en-US" sz="1850" dirty="0"/>
          </a:p>
        </p:txBody>
      </p:sp>
      <p:sp>
        <p:nvSpPr>
          <p:cNvPr id="12" name="Text 10"/>
          <p:cNvSpPr/>
          <p:nvPr/>
        </p:nvSpPr>
        <p:spPr>
          <a:xfrm>
            <a:off x="850482" y="5241032"/>
            <a:ext cx="4825780" cy="604838"/>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sp>
        <p:nvSpPr>
          <p:cNvPr id="13" name="Text 11"/>
          <p:cNvSpPr/>
          <p:nvPr/>
        </p:nvSpPr>
        <p:spPr>
          <a:xfrm>
            <a:off x="6332776" y="2283123"/>
            <a:ext cx="5203794" cy="295275"/>
          </a:xfrm>
          <a:prstGeom prst="rect">
            <a:avLst/>
          </a:prstGeom>
          <a:noFill/>
          <a:ln/>
        </p:spPr>
        <p:txBody>
          <a:bodyPr wrap="none" lIns="0" tIns="0" rIns="0" bIns="0" rtlCol="0" anchor="t"/>
          <a:lstStyle/>
          <a:p>
            <a:pPr marL="0" indent="0" algn="l">
              <a:lnSpc>
                <a:spcPct val="104000"/>
              </a:lnSpc>
              <a:buNone/>
            </a:pPr>
            <a:endParaRPr lang="en-US" sz="1850" dirty="0"/>
          </a:p>
        </p:txBody>
      </p:sp>
      <p:sp>
        <p:nvSpPr>
          <p:cNvPr id="14" name="Text 12"/>
          <p:cNvSpPr/>
          <p:nvPr/>
        </p:nvSpPr>
        <p:spPr>
          <a:xfrm>
            <a:off x="6332776" y="2767409"/>
            <a:ext cx="5203794" cy="907256"/>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sp>
        <p:nvSpPr>
          <p:cNvPr id="16" name="Text 14"/>
          <p:cNvSpPr/>
          <p:nvPr/>
        </p:nvSpPr>
        <p:spPr>
          <a:xfrm>
            <a:off x="6332776" y="4219773"/>
            <a:ext cx="5203794" cy="295275"/>
          </a:xfrm>
          <a:prstGeom prst="rect">
            <a:avLst/>
          </a:prstGeom>
          <a:noFill/>
          <a:ln/>
        </p:spPr>
        <p:txBody>
          <a:bodyPr wrap="none" lIns="0" tIns="0" rIns="0" bIns="0" rtlCol="0" anchor="t"/>
          <a:lstStyle/>
          <a:p>
            <a:pPr marL="0" indent="0" algn="l">
              <a:lnSpc>
                <a:spcPct val="104000"/>
              </a:lnSpc>
              <a:buNone/>
            </a:pPr>
            <a:endParaRPr lang="en-US" sz="1850" dirty="0"/>
          </a:p>
        </p:txBody>
      </p:sp>
      <p:sp>
        <p:nvSpPr>
          <p:cNvPr id="17" name="Text 15"/>
          <p:cNvSpPr/>
          <p:nvPr/>
        </p:nvSpPr>
        <p:spPr>
          <a:xfrm>
            <a:off x="6332776" y="4704060"/>
            <a:ext cx="5203794" cy="907256"/>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graphicFrame>
        <p:nvGraphicFramePr>
          <p:cNvPr id="19" name="Table 18">
            <a:extLst>
              <a:ext uri="{FF2B5EF4-FFF2-40B4-BE49-F238E27FC236}">
                <a16:creationId xmlns:a16="http://schemas.microsoft.com/office/drawing/2014/main" id="{131F3358-AAD6-902C-630E-7D5EF7D99BB8}"/>
              </a:ext>
            </a:extLst>
          </p:cNvPr>
          <p:cNvGraphicFramePr>
            <a:graphicFrameLocks noGrp="1"/>
          </p:cNvGraphicFramePr>
          <p:nvPr>
            <p:extLst>
              <p:ext uri="{D42A27DB-BD31-4B8C-83A1-F6EECF244321}">
                <p14:modId xmlns:p14="http://schemas.microsoft.com/office/powerpoint/2010/main" val="3506541142"/>
              </p:ext>
            </p:extLst>
          </p:nvPr>
        </p:nvGraphicFramePr>
        <p:xfrm>
          <a:off x="713670" y="1241616"/>
          <a:ext cx="11323998" cy="5467376"/>
        </p:xfrm>
        <a:graphic>
          <a:graphicData uri="http://schemas.openxmlformats.org/drawingml/2006/table">
            <a:tbl>
              <a:tblPr>
                <a:tableStyleId>{2D5ABB26-0587-4C30-8999-92F81FD0307C}</a:tableStyleId>
              </a:tblPr>
              <a:tblGrid>
                <a:gridCol w="652143">
                  <a:extLst>
                    <a:ext uri="{9D8B030D-6E8A-4147-A177-3AD203B41FA5}">
                      <a16:colId xmlns:a16="http://schemas.microsoft.com/office/drawing/2014/main" val="3933810343"/>
                    </a:ext>
                  </a:extLst>
                </a:gridCol>
                <a:gridCol w="983848">
                  <a:extLst>
                    <a:ext uri="{9D8B030D-6E8A-4147-A177-3AD203B41FA5}">
                      <a16:colId xmlns:a16="http://schemas.microsoft.com/office/drawing/2014/main" val="3881400019"/>
                    </a:ext>
                  </a:extLst>
                </a:gridCol>
                <a:gridCol w="914400">
                  <a:extLst>
                    <a:ext uri="{9D8B030D-6E8A-4147-A177-3AD203B41FA5}">
                      <a16:colId xmlns:a16="http://schemas.microsoft.com/office/drawing/2014/main" val="1958901437"/>
                    </a:ext>
                  </a:extLst>
                </a:gridCol>
                <a:gridCol w="3206187">
                  <a:extLst>
                    <a:ext uri="{9D8B030D-6E8A-4147-A177-3AD203B41FA5}">
                      <a16:colId xmlns:a16="http://schemas.microsoft.com/office/drawing/2014/main" val="2603101790"/>
                    </a:ext>
                  </a:extLst>
                </a:gridCol>
                <a:gridCol w="1666755">
                  <a:extLst>
                    <a:ext uri="{9D8B030D-6E8A-4147-A177-3AD203B41FA5}">
                      <a16:colId xmlns:a16="http://schemas.microsoft.com/office/drawing/2014/main" val="4217770612"/>
                    </a:ext>
                  </a:extLst>
                </a:gridCol>
                <a:gridCol w="1504708">
                  <a:extLst>
                    <a:ext uri="{9D8B030D-6E8A-4147-A177-3AD203B41FA5}">
                      <a16:colId xmlns:a16="http://schemas.microsoft.com/office/drawing/2014/main" val="3411191206"/>
                    </a:ext>
                  </a:extLst>
                </a:gridCol>
                <a:gridCol w="2395957">
                  <a:extLst>
                    <a:ext uri="{9D8B030D-6E8A-4147-A177-3AD203B41FA5}">
                      <a16:colId xmlns:a16="http://schemas.microsoft.com/office/drawing/2014/main" val="1333926980"/>
                    </a:ext>
                  </a:extLst>
                </a:gridCol>
              </a:tblGrid>
              <a:tr h="258202">
                <a:tc>
                  <a:txBody>
                    <a:bodyPr/>
                    <a:lstStyle/>
                    <a:p>
                      <a:pPr>
                        <a:buNone/>
                      </a:pPr>
                      <a:r>
                        <a:rPr lang="en-IN" sz="1400"/>
                        <a:t>S.No</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First Author</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Year</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Paper Title</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Research Gap</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Drawbacks</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Observation</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2320607"/>
                  </a:ext>
                </a:extLst>
              </a:tr>
              <a:tr h="1118916">
                <a:tc>
                  <a:txBody>
                    <a:bodyPr/>
                    <a:lstStyle/>
                    <a:p>
                      <a:pPr>
                        <a:buNone/>
                      </a:pPr>
                      <a:r>
                        <a:rPr lang="en-IN" sz="1400" dirty="0"/>
                        <a:t>1</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Zein R. M.</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2023</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Blockchain Technology in Lands Registration: A Systematic Literature Review</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Limited practical implementation</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Mostly theoretical</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Provides a comprehensive overview of blockchain adoption.</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8603358"/>
                  </a:ext>
                </a:extLst>
              </a:tr>
              <a:tr h="1118916">
                <a:tc>
                  <a:txBody>
                    <a:bodyPr/>
                    <a:lstStyle/>
                    <a:p>
                      <a:pPr>
                        <a:buNone/>
                      </a:pPr>
                      <a:r>
                        <a:rPr lang="en-IN" sz="1400"/>
                        <a:t>2</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err="1"/>
                        <a:t>Dengjin</a:t>
                      </a:r>
                      <a:r>
                        <a:rPr lang="en-IN" sz="1400" dirty="0"/>
                        <a:t> Wu</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2026</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Benefits and Challenges of Blockchain Technology in Real Estate</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Limited implementation validation</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Focuses on conceptual analysis</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Reviews benefits and challenges of blockchain adoption.</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7356761"/>
                  </a:ext>
                </a:extLst>
              </a:tr>
              <a:tr h="1118916">
                <a:tc>
                  <a:txBody>
                    <a:bodyPr/>
                    <a:lstStyle/>
                    <a:p>
                      <a:pPr>
                        <a:buNone/>
                      </a:pPr>
                      <a:r>
                        <a:rPr lang="en-IN" sz="1400"/>
                        <a:t>3</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Anniina Saari</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2022</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Blockchain in Real Estate: Recent Developments and Empirical Applications</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Few real-world deployments</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Survey-based study</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Summarizes recent developments in blockchain real estate.</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0358071"/>
                  </a:ext>
                </a:extLst>
              </a:tr>
              <a:tr h="926213">
                <a:tc>
                  <a:txBody>
                    <a:bodyPr/>
                    <a:lstStyle/>
                    <a:p>
                      <a:pPr>
                        <a:buNone/>
                      </a:pPr>
                      <a:r>
                        <a:rPr lang="en-IN" sz="1400"/>
                        <a:t>4</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Florbela Galvão da Cunha</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2023</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A Systematic Literature Review on Blockchain for Real Estate Transactions</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Limited legal implementation</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No deployment methodology</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Reviews blockchain applications in property transactions.</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6805722"/>
                  </a:ext>
                </a:extLst>
              </a:tr>
              <a:tr h="926213">
                <a:tc>
                  <a:txBody>
                    <a:bodyPr/>
                    <a:lstStyle/>
                    <a:p>
                      <a:pPr>
                        <a:buNone/>
                      </a:pPr>
                      <a:r>
                        <a:rPr lang="en-IN" sz="1400"/>
                        <a:t>5</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Ayesha Riaz</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2025</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Using Blockchain to Overcome the Issues in Land Registry Management</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a:t>Limited practical case studies</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Mostly conceptual</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sz="1400" dirty="0"/>
                        <a:t>Identifies blockchain solutions for land registry systems.</a:t>
                      </a:r>
                    </a:p>
                  </a:txBody>
                  <a:tcPr marL="42660" marR="42660" marT="21330" marB="2133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827381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15981CBC-85B9-456B-F2A2-577EC5EE1B5E}"/>
              </a:ext>
            </a:extLst>
          </p:cNvPr>
          <p:cNvSpPr/>
          <p:nvPr/>
        </p:nvSpPr>
        <p:spPr>
          <a:xfrm>
            <a:off x="680934" y="149007"/>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3257B8"/>
                </a:solidFill>
                <a:latin typeface="Roboto Slab" pitchFamily="34" charset="0"/>
                <a:ea typeface="Roboto Slab" pitchFamily="34" charset="-122"/>
                <a:cs typeface="Roboto Slab" pitchFamily="34" charset="-120"/>
              </a:rPr>
              <a:t>Literature Review</a:t>
            </a:r>
            <a:endParaRPr lang="en-US" sz="3700" dirty="0"/>
          </a:p>
        </p:txBody>
      </p:sp>
      <p:sp>
        <p:nvSpPr>
          <p:cNvPr id="7" name="Text 1">
            <a:extLst>
              <a:ext uri="{FF2B5EF4-FFF2-40B4-BE49-F238E27FC236}">
                <a16:creationId xmlns:a16="http://schemas.microsoft.com/office/drawing/2014/main" id="{DBCD53DE-D7D3-3768-CEE5-D9210BBC7055}"/>
              </a:ext>
            </a:extLst>
          </p:cNvPr>
          <p:cNvSpPr/>
          <p:nvPr/>
        </p:nvSpPr>
        <p:spPr>
          <a:xfrm>
            <a:off x="713670" y="777457"/>
            <a:ext cx="11478330" cy="302419"/>
          </a:xfrm>
          <a:prstGeom prst="rect">
            <a:avLst/>
          </a:prstGeom>
          <a:noFill/>
          <a:ln/>
        </p:spPr>
        <p:txBody>
          <a:bodyPr wrap="none" lIns="0" tIns="0" rIns="0" bIns="0" rtlCol="0" anchor="t"/>
          <a:lstStyle/>
          <a:p>
            <a:pPr marL="0" indent="0" algn="l">
              <a:lnSpc>
                <a:spcPct val="133000"/>
              </a:lnSpc>
              <a:buNone/>
            </a:pPr>
            <a:r>
              <a:rPr lang="en-US" sz="1600" i="1" dirty="0">
                <a:solidFill>
                  <a:srgbClr val="15213F"/>
                </a:solidFill>
                <a:latin typeface="Roboto" pitchFamily="34" charset="0"/>
                <a:ea typeface="Roboto" pitchFamily="34" charset="-122"/>
                <a:cs typeface="Roboto" pitchFamily="34" charset="-120"/>
              </a:rPr>
              <a:t>Case Studies &amp; Country-Based Papers</a:t>
            </a:r>
            <a:endParaRPr lang="en-US" sz="1600" dirty="0"/>
          </a:p>
        </p:txBody>
      </p:sp>
      <p:graphicFrame>
        <p:nvGraphicFramePr>
          <p:cNvPr id="15" name="Table 14">
            <a:extLst>
              <a:ext uri="{FF2B5EF4-FFF2-40B4-BE49-F238E27FC236}">
                <a16:creationId xmlns:a16="http://schemas.microsoft.com/office/drawing/2014/main" id="{ABAD9470-3A42-6D25-F96C-99196AA17465}"/>
              </a:ext>
            </a:extLst>
          </p:cNvPr>
          <p:cNvGraphicFramePr>
            <a:graphicFrameLocks noGrp="1"/>
          </p:cNvGraphicFramePr>
          <p:nvPr>
            <p:extLst>
              <p:ext uri="{D42A27DB-BD31-4B8C-83A1-F6EECF244321}">
                <p14:modId xmlns:p14="http://schemas.microsoft.com/office/powerpoint/2010/main" val="3061957985"/>
              </p:ext>
            </p:extLst>
          </p:nvPr>
        </p:nvGraphicFramePr>
        <p:xfrm>
          <a:off x="713670" y="1354239"/>
          <a:ext cx="11023061" cy="5184482"/>
        </p:xfrm>
        <a:graphic>
          <a:graphicData uri="http://schemas.openxmlformats.org/drawingml/2006/table">
            <a:tbl>
              <a:tblPr>
                <a:tableStyleId>{2D5ABB26-0587-4C30-8999-92F81FD0307C}</a:tableStyleId>
              </a:tblPr>
              <a:tblGrid>
                <a:gridCol w="455373">
                  <a:extLst>
                    <a:ext uri="{9D8B030D-6E8A-4147-A177-3AD203B41FA5}">
                      <a16:colId xmlns:a16="http://schemas.microsoft.com/office/drawing/2014/main" val="2998883424"/>
                    </a:ext>
                  </a:extLst>
                </a:gridCol>
                <a:gridCol w="1381652">
                  <a:extLst>
                    <a:ext uri="{9D8B030D-6E8A-4147-A177-3AD203B41FA5}">
                      <a16:colId xmlns:a16="http://schemas.microsoft.com/office/drawing/2014/main" val="3857141180"/>
                    </a:ext>
                  </a:extLst>
                </a:gridCol>
                <a:gridCol w="713366">
                  <a:extLst>
                    <a:ext uri="{9D8B030D-6E8A-4147-A177-3AD203B41FA5}">
                      <a16:colId xmlns:a16="http://schemas.microsoft.com/office/drawing/2014/main" val="1057729559"/>
                    </a:ext>
                  </a:extLst>
                </a:gridCol>
                <a:gridCol w="2939969">
                  <a:extLst>
                    <a:ext uri="{9D8B030D-6E8A-4147-A177-3AD203B41FA5}">
                      <a16:colId xmlns:a16="http://schemas.microsoft.com/office/drawing/2014/main" val="3252615987"/>
                    </a:ext>
                  </a:extLst>
                </a:gridCol>
                <a:gridCol w="1805651">
                  <a:extLst>
                    <a:ext uri="{9D8B030D-6E8A-4147-A177-3AD203B41FA5}">
                      <a16:colId xmlns:a16="http://schemas.microsoft.com/office/drawing/2014/main" val="455788313"/>
                    </a:ext>
                  </a:extLst>
                </a:gridCol>
                <a:gridCol w="1666754">
                  <a:extLst>
                    <a:ext uri="{9D8B030D-6E8A-4147-A177-3AD203B41FA5}">
                      <a16:colId xmlns:a16="http://schemas.microsoft.com/office/drawing/2014/main" val="2257371583"/>
                    </a:ext>
                  </a:extLst>
                </a:gridCol>
                <a:gridCol w="2060296">
                  <a:extLst>
                    <a:ext uri="{9D8B030D-6E8A-4147-A177-3AD203B41FA5}">
                      <a16:colId xmlns:a16="http://schemas.microsoft.com/office/drawing/2014/main" val="782170120"/>
                    </a:ext>
                  </a:extLst>
                </a:gridCol>
              </a:tblGrid>
              <a:tr h="147407">
                <a:tc>
                  <a:txBody>
                    <a:bodyPr/>
                    <a:lstStyle/>
                    <a:p>
                      <a:pPr algn="l">
                        <a:buNone/>
                      </a:pPr>
                      <a:r>
                        <a:rPr lang="en-IN" sz="1400"/>
                        <a:t>S.No</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First Author</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dirty="0"/>
                        <a:t>Year</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Paper Title</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Research Gap</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Drawbacks</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Observation</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2392939"/>
                  </a:ext>
                </a:extLst>
              </a:tr>
              <a:tr h="810739">
                <a:tc>
                  <a:txBody>
                    <a:bodyPr/>
                    <a:lstStyle/>
                    <a:p>
                      <a:pPr algn="l">
                        <a:buNone/>
                      </a:pPr>
                      <a:r>
                        <a:rPr lang="en-IN" sz="1400"/>
                        <a:t>6</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dirty="0"/>
                        <a:t>Muhammad Masood Tariq</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dirty="0"/>
                        <a:t>2025</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Land Registration and Inheritance Automation System (LRIAS)</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Limited inheritance scope</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Narrow application</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Automates land registration and inheritance using blockchain.</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6710605"/>
                  </a:ext>
                </a:extLst>
              </a:tr>
              <a:tr h="1142405">
                <a:tc>
                  <a:txBody>
                    <a:bodyPr/>
                    <a:lstStyle/>
                    <a:p>
                      <a:pPr algn="l">
                        <a:buNone/>
                      </a:pPr>
                      <a:r>
                        <a:rPr lang="en-IN" sz="1400"/>
                        <a:t>7</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dirty="0" err="1"/>
                        <a:t>Tonoy</a:t>
                      </a:r>
                      <a:r>
                        <a:rPr lang="en-IN" sz="1400" dirty="0"/>
                        <a:t> B. B.</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dirty="0"/>
                        <a:t>2026</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Securing Land Transactions using Blockchain and GIS Enabled Biometric Land Information System</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Complex implementation</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High deployment cost</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dirty="0"/>
                        <a:t>Integrates GIS and biometric authentication.</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4652236"/>
                  </a:ext>
                </a:extLst>
              </a:tr>
              <a:tr h="810739">
                <a:tc>
                  <a:txBody>
                    <a:bodyPr/>
                    <a:lstStyle/>
                    <a:p>
                      <a:pPr algn="l">
                        <a:buNone/>
                      </a:pPr>
                      <a:r>
                        <a:rPr lang="en-IN" sz="1400"/>
                        <a:t>8</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Khan R. H.</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dirty="0"/>
                        <a:t>2025</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Blockchain-Based Framework for Secure and Reliable Land Registry System</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Limited scalability evaluation</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Prototype validation</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Presents a secure blockchain framework.</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7207518"/>
                  </a:ext>
                </a:extLst>
              </a:tr>
              <a:tr h="700182">
                <a:tc>
                  <a:txBody>
                    <a:bodyPr/>
                    <a:lstStyle/>
                    <a:p>
                      <a:pPr algn="l">
                        <a:buNone/>
                      </a:pPr>
                      <a:r>
                        <a:rPr lang="en-IN" sz="1400"/>
                        <a:t>9</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dirty="0"/>
                        <a:t>Milon Biswas</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dirty="0"/>
                        <a:t>2026</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LandChain: A Blockchain-Based Secured Land Registration System</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Limited interoperability</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Government deployment not validated</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Uses Ethereum for decentralized land registration.</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0914246"/>
                  </a:ext>
                </a:extLst>
              </a:tr>
              <a:tr h="700182">
                <a:tc>
                  <a:txBody>
                    <a:bodyPr/>
                    <a:lstStyle/>
                    <a:p>
                      <a:pPr algn="l">
                        <a:buNone/>
                      </a:pPr>
                      <a:r>
                        <a:rPr lang="en-IN" sz="1400"/>
                        <a:t>10</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dirty="0"/>
                        <a:t>Ayesha Riaz</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2025</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Using Blockchain to Overcome the Issues in Land Registry Management</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Limited practical validation</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Mostly conceptual</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Reviews blockchain adoption for land registry.</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1530313"/>
                  </a:ext>
                </a:extLst>
              </a:tr>
              <a:tr h="700182">
                <a:tc>
                  <a:txBody>
                    <a:bodyPr/>
                    <a:lstStyle/>
                    <a:p>
                      <a:pPr algn="l">
                        <a:buNone/>
                      </a:pPr>
                      <a:r>
                        <a:rPr lang="en-IN" sz="1400"/>
                        <a:t>11</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IN" dirty="0"/>
                        <a:t>Insaf </a:t>
                      </a:r>
                      <a:r>
                        <a:rPr lang="en-IN" dirty="0" err="1"/>
                        <a:t>Boumezbeur</a:t>
                      </a:r>
                      <a:endParaRPr lang="en-IN" dirty="0"/>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2025</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BACP-LRS: Blockchain and IPFS-Based Land Record System</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Limited field validation</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a:t>Depends on IPFS infrastructure</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IN" sz="1400" dirty="0"/>
                        <a:t>Combines Ethereum with IPFS for document storage.</a:t>
                      </a:r>
                    </a:p>
                  </a:txBody>
                  <a:tcPr marL="31995" marR="31995" marT="15998" marB="15998"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1522597"/>
                  </a:ext>
                </a:extLst>
              </a:tr>
            </a:tbl>
          </a:graphicData>
        </a:graphic>
      </p:graphicFrame>
    </p:spTree>
    <p:extLst>
      <p:ext uri="{BB962C8B-B14F-4D97-AF65-F5344CB8AC3E}">
        <p14:creationId xmlns:p14="http://schemas.microsoft.com/office/powerpoint/2010/main" val="1905157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E6E9C73A-CAF7-873F-6B28-78A79C9795EC}"/>
              </a:ext>
            </a:extLst>
          </p:cNvPr>
          <p:cNvSpPr/>
          <p:nvPr/>
        </p:nvSpPr>
        <p:spPr>
          <a:xfrm>
            <a:off x="680934" y="149007"/>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3257B8"/>
                </a:solidFill>
                <a:latin typeface="Roboto Slab" pitchFamily="34" charset="0"/>
                <a:ea typeface="Roboto Slab" pitchFamily="34" charset="-122"/>
                <a:cs typeface="Roboto Slab" pitchFamily="34" charset="-120"/>
              </a:rPr>
              <a:t>Literature Review</a:t>
            </a:r>
            <a:endParaRPr lang="en-US" sz="3700" dirty="0"/>
          </a:p>
        </p:txBody>
      </p:sp>
      <p:sp>
        <p:nvSpPr>
          <p:cNvPr id="7" name="Text 1">
            <a:extLst>
              <a:ext uri="{FF2B5EF4-FFF2-40B4-BE49-F238E27FC236}">
                <a16:creationId xmlns:a16="http://schemas.microsoft.com/office/drawing/2014/main" id="{F714F13E-DA22-82EC-F2AA-59D47F18D146}"/>
              </a:ext>
            </a:extLst>
          </p:cNvPr>
          <p:cNvSpPr/>
          <p:nvPr/>
        </p:nvSpPr>
        <p:spPr>
          <a:xfrm>
            <a:off x="713670" y="777457"/>
            <a:ext cx="11478330" cy="302419"/>
          </a:xfrm>
          <a:prstGeom prst="rect">
            <a:avLst/>
          </a:prstGeom>
          <a:noFill/>
          <a:ln/>
        </p:spPr>
        <p:txBody>
          <a:bodyPr wrap="none" lIns="0" tIns="0" rIns="0" bIns="0" rtlCol="0" anchor="t"/>
          <a:lstStyle/>
          <a:p>
            <a:pPr marL="0" indent="0" algn="l">
              <a:lnSpc>
                <a:spcPct val="133000"/>
              </a:lnSpc>
              <a:buNone/>
            </a:pPr>
            <a:r>
              <a:rPr lang="en-US" sz="1600" i="1" dirty="0">
                <a:solidFill>
                  <a:srgbClr val="15213F"/>
                </a:solidFill>
                <a:latin typeface="Roboto" pitchFamily="34" charset="0"/>
                <a:ea typeface="Roboto" pitchFamily="34" charset="-122"/>
                <a:cs typeface="Roboto" pitchFamily="34" charset="-120"/>
              </a:rPr>
              <a:t>Technical Implementation Papers</a:t>
            </a:r>
            <a:endParaRPr lang="en-US" sz="1600" dirty="0"/>
          </a:p>
        </p:txBody>
      </p:sp>
      <p:graphicFrame>
        <p:nvGraphicFramePr>
          <p:cNvPr id="8" name="Table 7">
            <a:extLst>
              <a:ext uri="{FF2B5EF4-FFF2-40B4-BE49-F238E27FC236}">
                <a16:creationId xmlns:a16="http://schemas.microsoft.com/office/drawing/2014/main" id="{C367C4BA-8106-CC2B-2AE7-2D84DA162C66}"/>
              </a:ext>
            </a:extLst>
          </p:cNvPr>
          <p:cNvGraphicFramePr>
            <a:graphicFrameLocks noGrp="1"/>
          </p:cNvGraphicFramePr>
          <p:nvPr>
            <p:extLst>
              <p:ext uri="{D42A27DB-BD31-4B8C-83A1-F6EECF244321}">
                <p14:modId xmlns:p14="http://schemas.microsoft.com/office/powerpoint/2010/main" val="547168007"/>
              </p:ext>
            </p:extLst>
          </p:nvPr>
        </p:nvGraphicFramePr>
        <p:xfrm>
          <a:off x="713670" y="1250066"/>
          <a:ext cx="11208253" cy="5052766"/>
        </p:xfrm>
        <a:graphic>
          <a:graphicData uri="http://schemas.openxmlformats.org/drawingml/2006/table">
            <a:tbl>
              <a:tblPr/>
              <a:tblGrid>
                <a:gridCol w="779464">
                  <a:extLst>
                    <a:ext uri="{9D8B030D-6E8A-4147-A177-3AD203B41FA5}">
                      <a16:colId xmlns:a16="http://schemas.microsoft.com/office/drawing/2014/main" val="2135938834"/>
                    </a:ext>
                  </a:extLst>
                </a:gridCol>
                <a:gridCol w="1504709">
                  <a:extLst>
                    <a:ext uri="{9D8B030D-6E8A-4147-A177-3AD203B41FA5}">
                      <a16:colId xmlns:a16="http://schemas.microsoft.com/office/drawing/2014/main" val="4047691459"/>
                    </a:ext>
                  </a:extLst>
                </a:gridCol>
                <a:gridCol w="1169043">
                  <a:extLst>
                    <a:ext uri="{9D8B030D-6E8A-4147-A177-3AD203B41FA5}">
                      <a16:colId xmlns:a16="http://schemas.microsoft.com/office/drawing/2014/main" val="1455333549"/>
                    </a:ext>
                  </a:extLst>
                </a:gridCol>
                <a:gridCol w="2558005">
                  <a:extLst>
                    <a:ext uri="{9D8B030D-6E8A-4147-A177-3AD203B41FA5}">
                      <a16:colId xmlns:a16="http://schemas.microsoft.com/office/drawing/2014/main" val="4062758768"/>
                    </a:ext>
                  </a:extLst>
                </a:gridCol>
                <a:gridCol w="1655180">
                  <a:extLst>
                    <a:ext uri="{9D8B030D-6E8A-4147-A177-3AD203B41FA5}">
                      <a16:colId xmlns:a16="http://schemas.microsoft.com/office/drawing/2014/main" val="3879713263"/>
                    </a:ext>
                  </a:extLst>
                </a:gridCol>
                <a:gridCol w="1574157">
                  <a:extLst>
                    <a:ext uri="{9D8B030D-6E8A-4147-A177-3AD203B41FA5}">
                      <a16:colId xmlns:a16="http://schemas.microsoft.com/office/drawing/2014/main" val="728144298"/>
                    </a:ext>
                  </a:extLst>
                </a:gridCol>
                <a:gridCol w="1967695">
                  <a:extLst>
                    <a:ext uri="{9D8B030D-6E8A-4147-A177-3AD203B41FA5}">
                      <a16:colId xmlns:a16="http://schemas.microsoft.com/office/drawing/2014/main" val="3805480020"/>
                    </a:ext>
                  </a:extLst>
                </a:gridCol>
              </a:tblGrid>
              <a:tr h="159409">
                <a:tc>
                  <a:txBody>
                    <a:bodyPr/>
                    <a:lstStyle/>
                    <a:p>
                      <a:pPr algn="r">
                        <a:buNone/>
                      </a:pPr>
                      <a:r>
                        <a:rPr lang="en-IN" sz="1400"/>
                        <a:t>S.No</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First Author</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buNone/>
                      </a:pPr>
                      <a:r>
                        <a:rPr lang="en-IN" sz="1400"/>
                        <a:t>Year</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Paper Title</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Research Gap</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Drawbacks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Observation</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1007930"/>
                  </a:ext>
                </a:extLst>
              </a:tr>
              <a:tr h="759166">
                <a:tc>
                  <a:txBody>
                    <a:bodyPr/>
                    <a:lstStyle/>
                    <a:p>
                      <a:pPr algn="r">
                        <a:buNone/>
                      </a:pPr>
                      <a:r>
                        <a:rPr lang="en-IN" sz="1400"/>
                        <a:t>12</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Suresh 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buNone/>
                      </a:pPr>
                      <a:r>
                        <a:rPr lang="en-IN" sz="1400"/>
                        <a:t>2025</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Cadastral: Blockchain-Based Land Registration System</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Government integration challenges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Prototype implementation</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Automates registration using blockchain and smart contracts.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9076961"/>
                  </a:ext>
                </a:extLst>
              </a:tr>
              <a:tr h="759166">
                <a:tc>
                  <a:txBody>
                    <a:bodyPr/>
                    <a:lstStyle/>
                    <a:p>
                      <a:pPr algn="r">
                        <a:buNone/>
                      </a:pPr>
                      <a:r>
                        <a:rPr lang="en-IN" sz="1400"/>
                        <a:t>13</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i="1" dirty="0"/>
                        <a:t>R. </a:t>
                      </a:r>
                      <a:r>
                        <a:rPr lang="en-IN" sz="1400" i="1" dirty="0" err="1"/>
                        <a:t>Sidharthan</a:t>
                      </a:r>
                      <a:endParaRPr lang="en-IN" sz="1400" dirty="0"/>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buNone/>
                      </a:pPr>
                      <a:r>
                        <a:rPr lang="en-IN" sz="1400"/>
                        <a:t>2025</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Secured Land Registration Using Ethereum Blockchain and IPFS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Limited scalability evaluation</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Focuses mainly on secure storage</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Uses Ethereum, Solidity, IPFS, and MetaMask.</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3983787"/>
                  </a:ext>
                </a:extLst>
              </a:tr>
              <a:tr h="879118">
                <a:tc>
                  <a:txBody>
                    <a:bodyPr/>
                    <a:lstStyle/>
                    <a:p>
                      <a:pPr algn="r">
                        <a:buNone/>
                      </a:pPr>
                      <a:r>
                        <a:rPr lang="en-IN" sz="1400"/>
                        <a:t>14</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i="1" dirty="0"/>
                        <a:t>Madhusudhan R.</a:t>
                      </a:r>
                      <a:endParaRPr lang="en-IN" sz="1400" dirty="0"/>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buNone/>
                      </a:pPr>
                      <a:r>
                        <a:rPr lang="en-IN" sz="1400"/>
                        <a:t>2025</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Smart Land Registry System Using Blockchain: Challenges and Solutions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Comparative study only</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No implementation prototype</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Compares public, private, hybrid, and consortium blockchain models.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1893191"/>
                  </a:ext>
                </a:extLst>
              </a:tr>
              <a:tr h="759166">
                <a:tc>
                  <a:txBody>
                    <a:bodyPr/>
                    <a:lstStyle/>
                    <a:p>
                      <a:pPr algn="r">
                        <a:buNone/>
                      </a:pPr>
                      <a:r>
                        <a:rPr lang="en-IN" sz="1400"/>
                        <a:t>15</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i="1" dirty="0"/>
                        <a:t>Ram Kumar Yadav</a:t>
                      </a:r>
                      <a:endParaRPr lang="en-IN" sz="1400" dirty="0"/>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buNone/>
                      </a:pPr>
                      <a:r>
                        <a:rPr lang="en-IN" sz="1400"/>
                        <a:t>2025</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Smart Contract-Based Land Registration System Using Blockchain</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Limited legal framework</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Prototype-stage implementation</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Automates ownership transfer through smart contracts.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1887399"/>
                  </a:ext>
                </a:extLst>
              </a:tr>
              <a:tr h="879118">
                <a:tc>
                  <a:txBody>
                    <a:bodyPr/>
                    <a:lstStyle/>
                    <a:p>
                      <a:pPr algn="r">
                        <a:buNone/>
                      </a:pPr>
                      <a:r>
                        <a:rPr lang="en-IN" sz="1400"/>
                        <a:t>16</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Kuldeep Vayadande</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buNone/>
                      </a:pPr>
                      <a:r>
                        <a:rPr lang="en-IN" sz="1400"/>
                        <a:t>2022</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Blockchain-Based Land Record System</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Government database integration</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Prototype implementation</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Uses React.js, Node.js, Ethereum, Solidity, MetaMask, and Google Maps.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44628"/>
                  </a:ext>
                </a:extLst>
              </a:tr>
              <a:tr h="759166">
                <a:tc>
                  <a:txBody>
                    <a:bodyPr/>
                    <a:lstStyle/>
                    <a:p>
                      <a:pPr algn="r">
                        <a:buNone/>
                      </a:pPr>
                      <a:r>
                        <a:rPr lang="en-IN" sz="1400"/>
                        <a:t>17</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Krishnapriya 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ctr">
                        <a:buNone/>
                      </a:pPr>
                      <a:r>
                        <a:rPr lang="en-IN" sz="1400"/>
                        <a:t>2020</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Securing Land Registration Using Blockchain</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Uses older PoW consensus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a:t>Limited scalability for large deployments</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IN" sz="1400" dirty="0"/>
                        <a:t>Uses SHA-256, PoW, Merkle Tree, and ECC for secure land registration.</a:t>
                      </a:r>
                    </a:p>
                  </a:txBody>
                  <a:tcPr marL="35091" marR="35091" marT="17546" marB="1754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5379799"/>
                  </a:ext>
                </a:extLst>
              </a:tr>
            </a:tbl>
          </a:graphicData>
        </a:graphic>
      </p:graphicFrame>
    </p:spTree>
    <p:extLst>
      <p:ext uri="{BB962C8B-B14F-4D97-AF65-F5344CB8AC3E}">
        <p14:creationId xmlns:p14="http://schemas.microsoft.com/office/powerpoint/2010/main" val="1235070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0424B6BA-BB93-C4AD-0C65-B632EF673AD5}"/>
              </a:ext>
            </a:extLst>
          </p:cNvPr>
          <p:cNvSpPr/>
          <p:nvPr/>
        </p:nvSpPr>
        <p:spPr>
          <a:xfrm>
            <a:off x="680934" y="149007"/>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3257B8"/>
                </a:solidFill>
                <a:latin typeface="Roboto Slab" pitchFamily="34" charset="0"/>
                <a:ea typeface="Roboto Slab" pitchFamily="34" charset="-122"/>
                <a:cs typeface="Roboto Slab" pitchFamily="34" charset="-120"/>
              </a:rPr>
              <a:t>Key Observations from Literature Review</a:t>
            </a:r>
            <a:endParaRPr lang="en-US" sz="3700" dirty="0"/>
          </a:p>
        </p:txBody>
      </p:sp>
      <p:sp>
        <p:nvSpPr>
          <p:cNvPr id="5" name="TextBox 4">
            <a:extLst>
              <a:ext uri="{FF2B5EF4-FFF2-40B4-BE49-F238E27FC236}">
                <a16:creationId xmlns:a16="http://schemas.microsoft.com/office/drawing/2014/main" id="{191A6F7F-CB60-A709-07DF-D1299144E087}"/>
              </a:ext>
            </a:extLst>
          </p:cNvPr>
          <p:cNvSpPr txBox="1"/>
          <p:nvPr/>
        </p:nvSpPr>
        <p:spPr>
          <a:xfrm>
            <a:off x="680934" y="737146"/>
            <a:ext cx="10974772" cy="4278094"/>
          </a:xfrm>
          <a:prstGeom prst="rect">
            <a:avLst/>
          </a:prstGeom>
          <a:noFill/>
        </p:spPr>
        <p:txBody>
          <a:bodyPr wrap="square">
            <a:spAutoFit/>
          </a:bodyPr>
          <a:lstStyle/>
          <a:p>
            <a:pPr>
              <a:buNone/>
            </a:pPr>
            <a:r>
              <a:rPr lang="en-IN" sz="1600" b="1" dirty="0">
                <a:latin typeface="Roboto Slab" pitchFamily="2" charset="0"/>
                <a:ea typeface="Roboto Slab" pitchFamily="2" charset="0"/>
                <a:cs typeface="Roboto Slab" pitchFamily="2" charset="0"/>
              </a:rPr>
              <a:t>From Survey &amp; Review Papers</a:t>
            </a:r>
          </a:p>
          <a:p>
            <a:pPr marL="342900" lvl="0" indent="-342900">
              <a:buFont typeface="Arial" panose="020B0604020202020204" pitchFamily="34" charset="0"/>
              <a:buChar char="•"/>
            </a:pPr>
            <a:r>
              <a:rPr lang="en-IN" sz="1600" dirty="0">
                <a:latin typeface="Roboto Slab" pitchFamily="2" charset="0"/>
                <a:ea typeface="Roboto Slab" pitchFamily="2" charset="0"/>
                <a:cs typeface="Roboto Slab" pitchFamily="2" charset="0"/>
              </a:rPr>
              <a:t>Blockchain enhances transparency, security, and trust in land record management. </a:t>
            </a:r>
          </a:p>
          <a:p>
            <a:pPr marL="342900" lvl="0" indent="-342900">
              <a:buFont typeface="Arial" panose="020B0604020202020204" pitchFamily="34" charset="0"/>
              <a:buChar char="•"/>
            </a:pPr>
            <a:r>
              <a:rPr lang="en-IN" sz="1600" dirty="0">
                <a:latin typeface="Roboto Slab" pitchFamily="2" charset="0"/>
                <a:ea typeface="Roboto Slab" pitchFamily="2" charset="0"/>
                <a:cs typeface="Roboto Slab" pitchFamily="2" charset="0"/>
              </a:rPr>
              <a:t>Successful implementation depends on legal regulations, government support, and integration with existing land administration systems. </a:t>
            </a:r>
          </a:p>
          <a:p>
            <a:pPr>
              <a:buNone/>
            </a:pPr>
            <a:br>
              <a:rPr lang="en-IN" sz="1600" dirty="0">
                <a:latin typeface="Roboto Slab" pitchFamily="2" charset="0"/>
                <a:ea typeface="Roboto Slab" pitchFamily="2" charset="0"/>
                <a:cs typeface="Roboto Slab" pitchFamily="2" charset="0"/>
              </a:rPr>
            </a:br>
            <a:endParaRPr lang="en-IN" sz="1600" dirty="0">
              <a:latin typeface="Roboto Slab" pitchFamily="2" charset="0"/>
              <a:ea typeface="Roboto Slab" pitchFamily="2" charset="0"/>
              <a:cs typeface="Roboto Slab" pitchFamily="2" charset="0"/>
            </a:endParaRPr>
          </a:p>
          <a:p>
            <a:pPr>
              <a:buNone/>
            </a:pPr>
            <a:r>
              <a:rPr lang="en-IN" sz="1600" b="1" dirty="0">
                <a:latin typeface="Roboto Slab" pitchFamily="2" charset="0"/>
                <a:ea typeface="Roboto Slab" pitchFamily="2" charset="0"/>
                <a:cs typeface="Roboto Slab" pitchFamily="2" charset="0"/>
              </a:rPr>
              <a:t>From Case Studies</a:t>
            </a:r>
          </a:p>
          <a:p>
            <a:pPr marL="342900" lvl="0" indent="-342900">
              <a:buFont typeface="Arial" panose="020B0604020202020204" pitchFamily="34" charset="0"/>
              <a:buChar char="•"/>
            </a:pPr>
            <a:r>
              <a:rPr lang="en-IN" sz="1600" dirty="0">
                <a:latin typeface="Roboto Slab" pitchFamily="2" charset="0"/>
                <a:ea typeface="Roboto Slab" pitchFamily="2" charset="0"/>
                <a:cs typeface="Roboto Slab" pitchFamily="2" charset="0"/>
              </a:rPr>
              <a:t>Different countries face similar challenges such as paper-based records, fraud, and ownership disputes. </a:t>
            </a:r>
          </a:p>
          <a:p>
            <a:pPr marL="342900" lvl="0" indent="-342900">
              <a:buFont typeface="Arial" panose="020B0604020202020204" pitchFamily="34" charset="0"/>
              <a:buChar char="•"/>
            </a:pPr>
            <a:r>
              <a:rPr lang="en-IN" sz="1600" dirty="0">
                <a:latin typeface="Roboto Slab" pitchFamily="2" charset="0"/>
                <a:ea typeface="Roboto Slab" pitchFamily="2" charset="0"/>
                <a:cs typeface="Roboto Slab" pitchFamily="2" charset="0"/>
              </a:rPr>
              <a:t>Most solutions adopt Ethereum, Smart Contracts, and IPFS to improve security, transparency, and efficient document management while emphasizing government acceptance. </a:t>
            </a:r>
          </a:p>
          <a:p>
            <a:pPr>
              <a:buNone/>
            </a:pPr>
            <a:br>
              <a:rPr lang="en-IN" sz="1600" dirty="0">
                <a:latin typeface="Roboto Slab" pitchFamily="2" charset="0"/>
                <a:ea typeface="Roboto Slab" pitchFamily="2" charset="0"/>
                <a:cs typeface="Roboto Slab" pitchFamily="2" charset="0"/>
              </a:rPr>
            </a:br>
            <a:endParaRPr lang="en-IN" sz="1600" dirty="0">
              <a:latin typeface="Roboto Slab" pitchFamily="2" charset="0"/>
              <a:ea typeface="Roboto Slab" pitchFamily="2" charset="0"/>
              <a:cs typeface="Roboto Slab" pitchFamily="2" charset="0"/>
            </a:endParaRPr>
          </a:p>
          <a:p>
            <a:pPr>
              <a:buNone/>
            </a:pPr>
            <a:r>
              <a:rPr lang="en-IN" sz="1600" b="1" dirty="0">
                <a:latin typeface="Roboto Slab" pitchFamily="2" charset="0"/>
                <a:ea typeface="Roboto Slab" pitchFamily="2" charset="0"/>
                <a:cs typeface="Roboto Slab" pitchFamily="2" charset="0"/>
              </a:rPr>
              <a:t>From Technical Implementation Papers</a:t>
            </a:r>
          </a:p>
          <a:p>
            <a:pPr marL="342900" lvl="0" indent="-342900">
              <a:buFont typeface="Arial" panose="020B0604020202020204" pitchFamily="34" charset="0"/>
              <a:buChar char="•"/>
            </a:pPr>
            <a:r>
              <a:rPr lang="en-IN" sz="1600" dirty="0">
                <a:latin typeface="Roboto Slab" pitchFamily="2" charset="0"/>
                <a:ea typeface="Roboto Slab" pitchFamily="2" charset="0"/>
                <a:cs typeface="Roboto Slab" pitchFamily="2" charset="0"/>
              </a:rPr>
              <a:t>Ethereum and Solidity are the most commonly adopted technologies for blockchain-based land registration systems. </a:t>
            </a:r>
          </a:p>
          <a:p>
            <a:pPr marL="342900" lvl="0" indent="-342900">
              <a:buFont typeface="Arial" panose="020B0604020202020204" pitchFamily="34" charset="0"/>
              <a:buChar char="•"/>
            </a:pPr>
            <a:r>
              <a:rPr lang="en-IN" sz="1600" dirty="0">
                <a:latin typeface="Roboto Slab" pitchFamily="2" charset="0"/>
                <a:ea typeface="Roboto Slab" pitchFamily="2" charset="0"/>
                <a:cs typeface="Roboto Slab" pitchFamily="2" charset="0"/>
              </a:rPr>
              <a:t>Recent studies integrate IPFS, GIS, biometric authentication, and smart contracts to improve scalability, security, and reliable ownership verification</a:t>
            </a:r>
          </a:p>
        </p:txBody>
      </p:sp>
      <p:sp>
        <p:nvSpPr>
          <p:cNvPr id="7" name="TextBox 6">
            <a:extLst>
              <a:ext uri="{FF2B5EF4-FFF2-40B4-BE49-F238E27FC236}">
                <a16:creationId xmlns:a16="http://schemas.microsoft.com/office/drawing/2014/main" id="{980C28D9-F52A-3FA9-322B-6A798021F1CF}"/>
              </a:ext>
            </a:extLst>
          </p:cNvPr>
          <p:cNvSpPr txBox="1"/>
          <p:nvPr/>
        </p:nvSpPr>
        <p:spPr>
          <a:xfrm>
            <a:off x="680934" y="5102681"/>
            <a:ext cx="10868745" cy="1477328"/>
          </a:xfrm>
          <a:prstGeom prst="rect">
            <a:avLst/>
          </a:prstGeom>
          <a:noFill/>
        </p:spPr>
        <p:txBody>
          <a:bodyPr wrap="square">
            <a:spAutoFit/>
          </a:bodyPr>
          <a:lstStyle/>
          <a:p>
            <a:pPr>
              <a:buNone/>
            </a:pPr>
            <a:r>
              <a:rPr lang="en-IN" b="1" dirty="0">
                <a:latin typeface="Roboto Slab" pitchFamily="2" charset="0"/>
                <a:ea typeface="Roboto Slab" pitchFamily="2" charset="0"/>
                <a:cs typeface="Roboto Slab" pitchFamily="2" charset="0"/>
              </a:rPr>
              <a:t>Overall Understanding</a:t>
            </a:r>
          </a:p>
          <a:p>
            <a:pPr>
              <a:buNone/>
            </a:pPr>
            <a:r>
              <a:rPr lang="en-IN" dirty="0">
                <a:latin typeface="Roboto Slab" pitchFamily="2" charset="0"/>
                <a:ea typeface="Roboto Slab" pitchFamily="2" charset="0"/>
                <a:cs typeface="Roboto Slab" pitchFamily="2" charset="0"/>
              </a:rPr>
              <a:t>The literature demonstrates that blockchain is a promising solution for secure land record management. However, challenges related to legal compliance, government integration, scalability, and practical deployment remain active research areas, motivating the need for further evaluation before selecting the final implementation approach.</a:t>
            </a:r>
          </a:p>
        </p:txBody>
      </p:sp>
    </p:spTree>
    <p:extLst>
      <p:ext uri="{BB962C8B-B14F-4D97-AF65-F5344CB8AC3E}">
        <p14:creationId xmlns:p14="http://schemas.microsoft.com/office/powerpoint/2010/main" val="352034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680000F-BD67-FF9C-5CB6-B3CAB6DA7FAA}"/>
              </a:ext>
            </a:extLst>
          </p:cNvPr>
          <p:cNvSpPr txBox="1"/>
          <p:nvPr/>
        </p:nvSpPr>
        <p:spPr>
          <a:xfrm>
            <a:off x="370892" y="346508"/>
            <a:ext cx="7065606" cy="661720"/>
          </a:xfrm>
          <a:prstGeom prst="rect">
            <a:avLst/>
          </a:prstGeom>
          <a:noFill/>
        </p:spPr>
        <p:txBody>
          <a:bodyPr wrap="square">
            <a:spAutoFit/>
          </a:bodyPr>
          <a:lstStyle/>
          <a:p>
            <a:pPr>
              <a:lnSpc>
                <a:spcPct val="100000"/>
              </a:lnSpc>
            </a:pPr>
            <a:r>
              <a:rPr lang="en-US" sz="3700" dirty="0">
                <a:solidFill>
                  <a:srgbClr val="3257B8"/>
                </a:solidFill>
                <a:latin typeface="Roboto Slab" pitchFamily="34" charset="0"/>
                <a:ea typeface="Roboto Slab" pitchFamily="34" charset="-122"/>
                <a:cs typeface="Roboto Slab" pitchFamily="34" charset="-120"/>
              </a:rPr>
              <a:t> Flowchart / UML Diagram</a:t>
            </a:r>
            <a:endParaRPr lang="en-IN" b="1" dirty="0"/>
          </a:p>
        </p:txBody>
      </p:sp>
      <p:pic>
        <p:nvPicPr>
          <p:cNvPr id="9" name="Picture 8">
            <a:extLst>
              <a:ext uri="{FF2B5EF4-FFF2-40B4-BE49-F238E27FC236}">
                <a16:creationId xmlns:a16="http://schemas.microsoft.com/office/drawing/2014/main" id="{91D88713-F413-40DD-17C8-646B8500933F}"/>
              </a:ext>
            </a:extLst>
          </p:cNvPr>
          <p:cNvPicPr>
            <a:picLocks noChangeAspect="1"/>
          </p:cNvPicPr>
          <p:nvPr/>
        </p:nvPicPr>
        <p:blipFill>
          <a:blip r:embed="rId2"/>
          <a:srcRect t="1960"/>
          <a:stretch>
            <a:fillRect/>
          </a:stretch>
        </p:blipFill>
        <p:spPr>
          <a:xfrm>
            <a:off x="1380931" y="1306286"/>
            <a:ext cx="8686800" cy="4645372"/>
          </a:xfrm>
          <a:prstGeom prst="rect">
            <a:avLst/>
          </a:prstGeom>
        </p:spPr>
      </p:pic>
    </p:spTree>
    <p:extLst>
      <p:ext uri="{BB962C8B-B14F-4D97-AF65-F5344CB8AC3E}">
        <p14:creationId xmlns:p14="http://schemas.microsoft.com/office/powerpoint/2010/main" val="3993202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E426FE7-6A58-96D8-468F-F33A578AB868}"/>
              </a:ext>
            </a:extLst>
          </p:cNvPr>
          <p:cNvSpPr txBox="1"/>
          <p:nvPr/>
        </p:nvSpPr>
        <p:spPr>
          <a:xfrm>
            <a:off x="520181" y="611423"/>
            <a:ext cx="7326863" cy="661720"/>
          </a:xfrm>
          <a:prstGeom prst="rect">
            <a:avLst/>
          </a:prstGeom>
          <a:noFill/>
        </p:spPr>
        <p:txBody>
          <a:bodyPr wrap="square">
            <a:spAutoFit/>
          </a:bodyPr>
          <a:lstStyle/>
          <a:p>
            <a:pPr>
              <a:lnSpc>
                <a:spcPct val="100000"/>
              </a:lnSpc>
            </a:pPr>
            <a:r>
              <a:rPr lang="en-US" sz="3700" dirty="0">
                <a:solidFill>
                  <a:srgbClr val="3257B8"/>
                </a:solidFill>
                <a:latin typeface="Roboto Slab" pitchFamily="34" charset="0"/>
                <a:ea typeface="Roboto Slab" pitchFamily="34" charset="-122"/>
                <a:cs typeface="Roboto Slab" pitchFamily="34" charset="-120"/>
              </a:rPr>
              <a:t> Data Collection </a:t>
            </a:r>
            <a:endParaRPr lang="en-IN" sz="1800" b="1" dirty="0"/>
          </a:p>
        </p:txBody>
      </p:sp>
      <p:graphicFrame>
        <p:nvGraphicFramePr>
          <p:cNvPr id="10" name="Table 9">
            <a:extLst>
              <a:ext uri="{FF2B5EF4-FFF2-40B4-BE49-F238E27FC236}">
                <a16:creationId xmlns:a16="http://schemas.microsoft.com/office/drawing/2014/main" id="{CE68B271-A229-36CD-9C78-57C14DDD4EBF}"/>
              </a:ext>
            </a:extLst>
          </p:cNvPr>
          <p:cNvGraphicFramePr>
            <a:graphicFrameLocks noGrp="1"/>
          </p:cNvGraphicFramePr>
          <p:nvPr>
            <p:extLst>
              <p:ext uri="{D42A27DB-BD31-4B8C-83A1-F6EECF244321}">
                <p14:modId xmlns:p14="http://schemas.microsoft.com/office/powerpoint/2010/main" val="3994461896"/>
              </p:ext>
            </p:extLst>
          </p:nvPr>
        </p:nvGraphicFramePr>
        <p:xfrm>
          <a:off x="522514" y="1429450"/>
          <a:ext cx="10513267" cy="3077563"/>
        </p:xfrm>
        <a:graphic>
          <a:graphicData uri="http://schemas.openxmlformats.org/drawingml/2006/table">
            <a:tbl>
              <a:tblPr>
                <a:tableStyleId>{5C22544A-7EE6-4342-B048-85BDC9FD1C3A}</a:tableStyleId>
              </a:tblPr>
              <a:tblGrid>
                <a:gridCol w="5255467">
                  <a:extLst>
                    <a:ext uri="{9D8B030D-6E8A-4147-A177-3AD203B41FA5}">
                      <a16:colId xmlns:a16="http://schemas.microsoft.com/office/drawing/2014/main" val="1379990796"/>
                    </a:ext>
                  </a:extLst>
                </a:gridCol>
                <a:gridCol w="5257800">
                  <a:extLst>
                    <a:ext uri="{9D8B030D-6E8A-4147-A177-3AD203B41FA5}">
                      <a16:colId xmlns:a16="http://schemas.microsoft.com/office/drawing/2014/main" val="3915969976"/>
                    </a:ext>
                  </a:extLst>
                </a:gridCol>
              </a:tblGrid>
              <a:tr h="883003">
                <a:tc>
                  <a:txBody>
                    <a:bodyPr/>
                    <a:lstStyle/>
                    <a:p>
                      <a:pPr>
                        <a:buNone/>
                      </a:pPr>
                      <a:r>
                        <a:rPr lang="en-IN" dirty="0">
                          <a:solidFill>
                            <a:schemeClr val="accent1">
                              <a:lumMod val="60000"/>
                              <a:lumOff val="40000"/>
                            </a:schemeClr>
                          </a:solidFill>
                        </a:rPr>
                        <a:t>Data Type</a:t>
                      </a:r>
                    </a:p>
                  </a:txBody>
                  <a:tcPr anchor="ctr"/>
                </a:tc>
                <a:tc>
                  <a:txBody>
                    <a:bodyPr/>
                    <a:lstStyle/>
                    <a:p>
                      <a:pPr>
                        <a:buNone/>
                      </a:pPr>
                      <a:r>
                        <a:rPr lang="en-IN" dirty="0">
                          <a:solidFill>
                            <a:schemeClr val="accent1">
                              <a:lumMod val="60000"/>
                              <a:lumOff val="40000"/>
                            </a:schemeClr>
                          </a:solidFill>
                        </a:rPr>
                        <a:t>Examples</a:t>
                      </a:r>
                    </a:p>
                  </a:txBody>
                  <a:tcPr anchor="ctr"/>
                </a:tc>
                <a:extLst>
                  <a:ext uri="{0D108BD9-81ED-4DB2-BD59-A6C34878D82A}">
                    <a16:rowId xmlns:a16="http://schemas.microsoft.com/office/drawing/2014/main" val="4173261529"/>
                  </a:ext>
                </a:extLst>
              </a:tr>
              <a:tr h="0">
                <a:tc>
                  <a:txBody>
                    <a:bodyPr/>
                    <a:lstStyle/>
                    <a:p>
                      <a:pPr>
                        <a:buNone/>
                      </a:pPr>
                      <a:r>
                        <a:rPr lang="en-IN"/>
                        <a:t>User Data</a:t>
                      </a:r>
                    </a:p>
                  </a:txBody>
                  <a:tcPr anchor="ctr"/>
                </a:tc>
                <a:tc>
                  <a:txBody>
                    <a:bodyPr/>
                    <a:lstStyle/>
                    <a:p>
                      <a:pPr>
                        <a:buNone/>
                      </a:pPr>
                      <a:r>
                        <a:rPr lang="en-IN"/>
                        <a:t>Name, wallet/account, role</a:t>
                      </a:r>
                    </a:p>
                  </a:txBody>
                  <a:tcPr anchor="ctr"/>
                </a:tc>
                <a:extLst>
                  <a:ext uri="{0D108BD9-81ED-4DB2-BD59-A6C34878D82A}">
                    <a16:rowId xmlns:a16="http://schemas.microsoft.com/office/drawing/2014/main" val="320372110"/>
                  </a:ext>
                </a:extLst>
              </a:tr>
              <a:tr h="0">
                <a:tc>
                  <a:txBody>
                    <a:bodyPr/>
                    <a:lstStyle/>
                    <a:p>
                      <a:pPr>
                        <a:buNone/>
                      </a:pPr>
                      <a:r>
                        <a:rPr lang="en-IN"/>
                        <a:t>Land Data</a:t>
                      </a:r>
                    </a:p>
                  </a:txBody>
                  <a:tcPr anchor="ctr"/>
                </a:tc>
                <a:tc>
                  <a:txBody>
                    <a:bodyPr/>
                    <a:lstStyle/>
                    <a:p>
                      <a:pPr>
                        <a:buNone/>
                      </a:pPr>
                      <a:r>
                        <a:rPr lang="en-IN"/>
                        <a:t>Land ID, survey number, area</a:t>
                      </a:r>
                    </a:p>
                  </a:txBody>
                  <a:tcPr anchor="ctr"/>
                </a:tc>
                <a:extLst>
                  <a:ext uri="{0D108BD9-81ED-4DB2-BD59-A6C34878D82A}">
                    <a16:rowId xmlns:a16="http://schemas.microsoft.com/office/drawing/2014/main" val="94984229"/>
                  </a:ext>
                </a:extLst>
              </a:tr>
              <a:tr h="0">
                <a:tc>
                  <a:txBody>
                    <a:bodyPr/>
                    <a:lstStyle/>
                    <a:p>
                      <a:pPr>
                        <a:buNone/>
                      </a:pPr>
                      <a:r>
                        <a:rPr lang="en-IN"/>
                        <a:t>Location</a:t>
                      </a:r>
                    </a:p>
                  </a:txBody>
                  <a:tcPr anchor="ctr"/>
                </a:tc>
                <a:tc>
                  <a:txBody>
                    <a:bodyPr/>
                    <a:lstStyle/>
                    <a:p>
                      <a:pPr>
                        <a:buNone/>
                      </a:pPr>
                      <a:r>
                        <a:rPr lang="en-IN"/>
                        <a:t>Village, district, coordinates if implemented</a:t>
                      </a:r>
                    </a:p>
                  </a:txBody>
                  <a:tcPr anchor="ctr"/>
                </a:tc>
                <a:extLst>
                  <a:ext uri="{0D108BD9-81ED-4DB2-BD59-A6C34878D82A}">
                    <a16:rowId xmlns:a16="http://schemas.microsoft.com/office/drawing/2014/main" val="993221416"/>
                  </a:ext>
                </a:extLst>
              </a:tr>
              <a:tr h="0">
                <a:tc>
                  <a:txBody>
                    <a:bodyPr/>
                    <a:lstStyle/>
                    <a:p>
                      <a:pPr>
                        <a:buNone/>
                      </a:pPr>
                      <a:r>
                        <a:rPr lang="en-IN"/>
                        <a:t>Documents</a:t>
                      </a:r>
                    </a:p>
                  </a:txBody>
                  <a:tcPr anchor="ctr"/>
                </a:tc>
                <a:tc>
                  <a:txBody>
                    <a:bodyPr/>
                    <a:lstStyle/>
                    <a:p>
                      <a:pPr>
                        <a:buNone/>
                      </a:pPr>
                      <a:r>
                        <a:rPr lang="en-IN"/>
                        <a:t>Certificates, deeds</a:t>
                      </a:r>
                    </a:p>
                  </a:txBody>
                  <a:tcPr anchor="ctr"/>
                </a:tc>
                <a:extLst>
                  <a:ext uri="{0D108BD9-81ED-4DB2-BD59-A6C34878D82A}">
                    <a16:rowId xmlns:a16="http://schemas.microsoft.com/office/drawing/2014/main" val="269888610"/>
                  </a:ext>
                </a:extLst>
              </a:tr>
              <a:tr h="0">
                <a:tc>
                  <a:txBody>
                    <a:bodyPr/>
                    <a:lstStyle/>
                    <a:p>
                      <a:pPr>
                        <a:buNone/>
                      </a:pPr>
                      <a:r>
                        <a:rPr lang="en-IN"/>
                        <a:t>Ownership</a:t>
                      </a:r>
                    </a:p>
                  </a:txBody>
                  <a:tcPr anchor="ctr"/>
                </a:tc>
                <a:tc>
                  <a:txBody>
                    <a:bodyPr/>
                    <a:lstStyle/>
                    <a:p>
                      <a:pPr>
                        <a:buNone/>
                      </a:pPr>
                      <a:r>
                        <a:rPr lang="en-IN"/>
                        <a:t>Current/previous owner</a:t>
                      </a:r>
                    </a:p>
                  </a:txBody>
                  <a:tcPr anchor="ctr"/>
                </a:tc>
                <a:extLst>
                  <a:ext uri="{0D108BD9-81ED-4DB2-BD59-A6C34878D82A}">
                    <a16:rowId xmlns:a16="http://schemas.microsoft.com/office/drawing/2014/main" val="3006925399"/>
                  </a:ext>
                </a:extLst>
              </a:tr>
              <a:tr h="0">
                <a:tc>
                  <a:txBody>
                    <a:bodyPr/>
                    <a:lstStyle/>
                    <a:p>
                      <a:pPr>
                        <a:buNone/>
                      </a:pPr>
                      <a:r>
                        <a:rPr lang="en-IN" dirty="0"/>
                        <a:t>Transactions</a:t>
                      </a:r>
                    </a:p>
                  </a:txBody>
                  <a:tcPr anchor="ctr"/>
                </a:tc>
                <a:tc>
                  <a:txBody>
                    <a:bodyPr/>
                    <a:lstStyle/>
                    <a:p>
                      <a:pPr>
                        <a:buNone/>
                      </a:pPr>
                      <a:r>
                        <a:rPr lang="en-IN" dirty="0"/>
                        <a:t>Tx Hash, timestamp, sender/receiver</a:t>
                      </a:r>
                    </a:p>
                  </a:txBody>
                  <a:tcPr anchor="ctr"/>
                </a:tc>
                <a:extLst>
                  <a:ext uri="{0D108BD9-81ED-4DB2-BD59-A6C34878D82A}">
                    <a16:rowId xmlns:a16="http://schemas.microsoft.com/office/drawing/2014/main" val="912072880"/>
                  </a:ext>
                </a:extLst>
              </a:tr>
            </a:tbl>
          </a:graphicData>
        </a:graphic>
      </p:graphicFrame>
      <p:sp>
        <p:nvSpPr>
          <p:cNvPr id="12" name="TextBox 11">
            <a:extLst>
              <a:ext uri="{FF2B5EF4-FFF2-40B4-BE49-F238E27FC236}">
                <a16:creationId xmlns:a16="http://schemas.microsoft.com/office/drawing/2014/main" id="{9BDEE394-89A6-6760-43D8-29EC47E82E24}"/>
              </a:ext>
            </a:extLst>
          </p:cNvPr>
          <p:cNvSpPr txBox="1"/>
          <p:nvPr/>
        </p:nvSpPr>
        <p:spPr>
          <a:xfrm>
            <a:off x="601824" y="5136162"/>
            <a:ext cx="8467530" cy="584775"/>
          </a:xfrm>
          <a:prstGeom prst="rect">
            <a:avLst/>
          </a:prstGeom>
          <a:noFill/>
        </p:spPr>
        <p:txBody>
          <a:bodyPr wrap="square">
            <a:spAutoFit/>
          </a:bodyPr>
          <a:lstStyle/>
          <a:p>
            <a:pPr>
              <a:buNone/>
            </a:pPr>
            <a:r>
              <a:rPr lang="en-IN" sz="1600" dirty="0"/>
              <a:t>Unlike ML/DL projects that require large datasets for model training, this project does not use a conventional dataset; it uses synthetic/demo land records for system testing and implementation.</a:t>
            </a:r>
          </a:p>
        </p:txBody>
      </p:sp>
    </p:spTree>
    <p:extLst>
      <p:ext uri="{BB962C8B-B14F-4D97-AF65-F5344CB8AC3E}">
        <p14:creationId xmlns:p14="http://schemas.microsoft.com/office/powerpoint/2010/main" val="33509452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E26A6C-4FB3-C7AB-49D6-EC4890BDDEC0}"/>
              </a:ext>
            </a:extLst>
          </p:cNvPr>
          <p:cNvSpPr txBox="1"/>
          <p:nvPr/>
        </p:nvSpPr>
        <p:spPr>
          <a:xfrm>
            <a:off x="548174" y="611423"/>
            <a:ext cx="7326863" cy="661720"/>
          </a:xfrm>
          <a:prstGeom prst="rect">
            <a:avLst/>
          </a:prstGeom>
          <a:noFill/>
        </p:spPr>
        <p:txBody>
          <a:bodyPr wrap="square">
            <a:spAutoFit/>
          </a:bodyPr>
          <a:lstStyle/>
          <a:p>
            <a:pPr>
              <a:lnSpc>
                <a:spcPct val="100000"/>
              </a:lnSpc>
            </a:pPr>
            <a:r>
              <a:rPr lang="en-US" sz="3700" dirty="0">
                <a:solidFill>
                  <a:srgbClr val="3257B8"/>
                </a:solidFill>
                <a:latin typeface="Roboto Slab" pitchFamily="34" charset="0"/>
                <a:ea typeface="Roboto Slab" pitchFamily="34" charset="-122"/>
                <a:cs typeface="Roboto Slab" pitchFamily="34" charset="-120"/>
              </a:rPr>
              <a:t> Algorithms </a:t>
            </a:r>
            <a:r>
              <a:rPr lang="en-IN" dirty="0"/>
              <a:t> </a:t>
            </a:r>
            <a:endParaRPr lang="en-IN" sz="1800" b="1" dirty="0"/>
          </a:p>
        </p:txBody>
      </p:sp>
      <p:pic>
        <p:nvPicPr>
          <p:cNvPr id="5" name="Picture 4">
            <a:extLst>
              <a:ext uri="{FF2B5EF4-FFF2-40B4-BE49-F238E27FC236}">
                <a16:creationId xmlns:a16="http://schemas.microsoft.com/office/drawing/2014/main" id="{FD062F8F-FB55-5ED5-74DD-919AE62C06C1}"/>
              </a:ext>
            </a:extLst>
          </p:cNvPr>
          <p:cNvPicPr>
            <a:picLocks noChangeAspect="1"/>
          </p:cNvPicPr>
          <p:nvPr/>
        </p:nvPicPr>
        <p:blipFill>
          <a:blip r:embed="rId2"/>
          <a:stretch>
            <a:fillRect/>
          </a:stretch>
        </p:blipFill>
        <p:spPr>
          <a:xfrm>
            <a:off x="2611899" y="1358843"/>
            <a:ext cx="7557018" cy="5038012"/>
          </a:xfrm>
          <a:prstGeom prst="rect">
            <a:avLst/>
          </a:prstGeom>
        </p:spPr>
      </p:pic>
    </p:spTree>
    <p:extLst>
      <p:ext uri="{BB962C8B-B14F-4D97-AF65-F5344CB8AC3E}">
        <p14:creationId xmlns:p14="http://schemas.microsoft.com/office/powerpoint/2010/main" val="4124493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520F5C-7641-6C8F-1DAF-F280E64564CD}"/>
              </a:ext>
            </a:extLst>
          </p:cNvPr>
          <p:cNvSpPr txBox="1"/>
          <p:nvPr/>
        </p:nvSpPr>
        <p:spPr>
          <a:xfrm>
            <a:off x="1471904" y="2641802"/>
            <a:ext cx="7942683" cy="661720"/>
          </a:xfrm>
          <a:prstGeom prst="rect">
            <a:avLst/>
          </a:prstGeom>
          <a:noFill/>
        </p:spPr>
        <p:txBody>
          <a:bodyPr wrap="square">
            <a:spAutoFit/>
          </a:bodyPr>
          <a:lstStyle/>
          <a:p>
            <a:pPr algn="ctr">
              <a:lnSpc>
                <a:spcPct val="100000"/>
              </a:lnSpc>
            </a:pPr>
            <a:r>
              <a:rPr lang="en-US" sz="3700" dirty="0">
                <a:solidFill>
                  <a:srgbClr val="3257B8"/>
                </a:solidFill>
                <a:latin typeface="Roboto Slab" pitchFamily="34" charset="0"/>
                <a:ea typeface="Roboto Slab" pitchFamily="34" charset="-122"/>
                <a:cs typeface="Roboto Slab" pitchFamily="34" charset="-120"/>
              </a:rPr>
              <a:t>Thank you </a:t>
            </a:r>
            <a:endParaRPr lang="en-IN" sz="1800" b="1" dirty="0"/>
          </a:p>
        </p:txBody>
      </p:sp>
    </p:spTree>
    <p:extLst>
      <p:ext uri="{BB962C8B-B14F-4D97-AF65-F5344CB8AC3E}">
        <p14:creationId xmlns:p14="http://schemas.microsoft.com/office/powerpoint/2010/main" val="41046955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394</TotalTime>
  <Words>1179</Words>
  <Application>Microsoft Office PowerPoint</Application>
  <PresentationFormat>Widescreen</PresentationFormat>
  <Paragraphs>231</Paragraphs>
  <Slides>12</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Roboto</vt:lpstr>
      <vt:lpstr>Roboto Slab</vt:lpstr>
      <vt:lpstr>Roboto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Mansuralikhan Pathan</cp:lastModifiedBy>
  <cp:revision>19</cp:revision>
  <dcterms:created xsi:type="dcterms:W3CDTF">2026-07-31T16:36:49Z</dcterms:created>
  <dcterms:modified xsi:type="dcterms:W3CDTF">2026-09-07T09:47:30Z</dcterms:modified>
</cp:coreProperties>
</file>